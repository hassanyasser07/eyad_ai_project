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a Hamah 1964" charset="1" panose="00000500000000000000"/>
      <p:regular r:id="rId16"/>
    </p:embeddedFont>
    <p:embeddedFont>
      <p:font typeface="Fenoon Rounded" charset="1" panose="00000906000000000000"/>
      <p:regular r:id="rId17"/>
    </p:embeddedFont>
    <p:embeddedFont>
      <p:font typeface="Bedayah" charset="1" panose="00000500000000000000"/>
      <p:regular r:id="rId18"/>
    </p:embeddedFont>
    <p:embeddedFont>
      <p:font typeface="Aqlaam" charset="1" panose="00000500000000000000"/>
      <p:regular r:id="rId19"/>
    </p:embeddedFont>
    <p:embeddedFont>
      <p:font typeface="29LT Azer"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2" Target="../media/image15.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34152" y="0"/>
            <a:ext cx="8053848" cy="10365961"/>
            <a:chOff x="0" y="0"/>
            <a:chExt cx="2121178" cy="2730130"/>
          </a:xfrm>
        </p:grpSpPr>
        <p:sp>
          <p:nvSpPr>
            <p:cNvPr name="Freeform 3" id="3"/>
            <p:cNvSpPr/>
            <p:nvPr/>
          </p:nvSpPr>
          <p:spPr>
            <a:xfrm flipH="false" flipV="false" rot="0">
              <a:off x="0" y="0"/>
              <a:ext cx="2121178" cy="2730130"/>
            </a:xfrm>
            <a:custGeom>
              <a:avLst/>
              <a:gdLst/>
              <a:ahLst/>
              <a:cxnLst/>
              <a:rect r="r" b="b" t="t" l="l"/>
              <a:pathLst>
                <a:path h="2730130" w="2121178">
                  <a:moveTo>
                    <a:pt x="0" y="0"/>
                  </a:moveTo>
                  <a:lnTo>
                    <a:pt x="2121178" y="0"/>
                  </a:lnTo>
                  <a:lnTo>
                    <a:pt x="2121178" y="2730130"/>
                  </a:lnTo>
                  <a:lnTo>
                    <a:pt x="0" y="2730130"/>
                  </a:lnTo>
                  <a:close/>
                </a:path>
              </a:pathLst>
            </a:custGeom>
            <a:solidFill>
              <a:srgbClr val="000000"/>
            </a:solidFill>
          </p:spPr>
        </p:sp>
        <p:sp>
          <p:nvSpPr>
            <p:cNvPr name="TextBox 4" id="4"/>
            <p:cNvSpPr txBox="true"/>
            <p:nvPr/>
          </p:nvSpPr>
          <p:spPr>
            <a:xfrm>
              <a:off x="0" y="-38100"/>
              <a:ext cx="2121178" cy="276823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972679" y="3978356"/>
            <a:ext cx="1181646" cy="805667"/>
          </a:xfrm>
          <a:custGeom>
            <a:avLst/>
            <a:gdLst/>
            <a:ahLst/>
            <a:cxnLst/>
            <a:rect r="r" b="b" t="t" l="l"/>
            <a:pathLst>
              <a:path h="805667" w="1181646">
                <a:moveTo>
                  <a:pt x="0" y="0"/>
                </a:moveTo>
                <a:lnTo>
                  <a:pt x="1181646" y="0"/>
                </a:lnTo>
                <a:lnTo>
                  <a:pt x="1181646" y="805668"/>
                </a:lnTo>
                <a:lnTo>
                  <a:pt x="0" y="8056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0612" y="-2403038"/>
            <a:ext cx="10854764" cy="13568455"/>
          </a:xfrm>
          <a:custGeom>
            <a:avLst/>
            <a:gdLst/>
            <a:ahLst/>
            <a:cxnLst/>
            <a:rect r="r" b="b" t="t" l="l"/>
            <a:pathLst>
              <a:path h="13568455" w="10854764">
                <a:moveTo>
                  <a:pt x="0" y="0"/>
                </a:moveTo>
                <a:lnTo>
                  <a:pt x="10854764" y="0"/>
                </a:lnTo>
                <a:lnTo>
                  <a:pt x="10854764" y="13568456"/>
                </a:lnTo>
                <a:lnTo>
                  <a:pt x="0" y="13568456"/>
                </a:lnTo>
                <a:lnTo>
                  <a:pt x="0" y="0"/>
                </a:lnTo>
                <a:close/>
              </a:path>
            </a:pathLst>
          </a:custGeom>
          <a:blipFill>
            <a:blip r:embed="rId4"/>
            <a:stretch>
              <a:fillRect l="0" t="0" r="0" b="0"/>
            </a:stretch>
          </a:blipFill>
        </p:spPr>
      </p:sp>
      <p:sp>
        <p:nvSpPr>
          <p:cNvPr name="TextBox 7" id="7"/>
          <p:cNvSpPr txBox="true"/>
          <p:nvPr/>
        </p:nvSpPr>
        <p:spPr>
          <a:xfrm rot="0">
            <a:off x="12246260" y="8772202"/>
            <a:ext cx="4029632" cy="486098"/>
          </a:xfrm>
          <a:prstGeom prst="rect">
            <a:avLst/>
          </a:prstGeom>
        </p:spPr>
        <p:txBody>
          <a:bodyPr anchor="t" rtlCol="false" tIns="0" lIns="0" bIns="0" rIns="0">
            <a:spAutoFit/>
          </a:bodyPr>
          <a:lstStyle/>
          <a:p>
            <a:pPr algn="ctr" rtl="true">
              <a:lnSpc>
                <a:spcPts val="3534"/>
              </a:lnSpc>
            </a:pPr>
            <a:r>
              <a:rPr lang="ar-EG" sz="3759">
                <a:solidFill>
                  <a:srgbClr val="D39117"/>
                </a:solidFill>
                <a:latin typeface="Ara Hamah 1964"/>
                <a:ea typeface="Ara Hamah 1964"/>
                <a:cs typeface="Ara Hamah 1964"/>
                <a:sym typeface="Ara Hamah 1964"/>
                <a:rtl val="true"/>
              </a:rPr>
              <a:t> ملف أعمال الستوديو </a:t>
            </a:r>
          </a:p>
        </p:txBody>
      </p:sp>
      <p:sp>
        <p:nvSpPr>
          <p:cNvPr name="TextBox 8" id="8"/>
          <p:cNvSpPr txBox="true"/>
          <p:nvPr/>
        </p:nvSpPr>
        <p:spPr>
          <a:xfrm rot="0">
            <a:off x="14091706" y="3654786"/>
            <a:ext cx="1457768" cy="2070678"/>
          </a:xfrm>
          <a:prstGeom prst="rect">
            <a:avLst/>
          </a:prstGeom>
        </p:spPr>
        <p:txBody>
          <a:bodyPr anchor="t" rtlCol="false" tIns="0" lIns="0" bIns="0" rIns="0">
            <a:spAutoFit/>
          </a:bodyPr>
          <a:lstStyle/>
          <a:p>
            <a:pPr algn="ctr" rtl="true">
              <a:lnSpc>
                <a:spcPts val="15678"/>
              </a:lnSpc>
            </a:pPr>
            <a:r>
              <a:rPr lang="ar-EG" sz="15370">
                <a:solidFill>
                  <a:srgbClr val="EADDCA"/>
                </a:solidFill>
                <a:latin typeface="Fenoon Rounded"/>
                <a:ea typeface="Fenoon Rounded"/>
                <a:cs typeface="Fenoon Rounded"/>
                <a:sym typeface="Fenoon Rounded"/>
                <a:rtl val="true"/>
              </a:rPr>
              <a:t>عين </a:t>
            </a:r>
          </a:p>
        </p:txBody>
      </p:sp>
      <p:sp>
        <p:nvSpPr>
          <p:cNvPr name="TextBox 9" id="9"/>
          <p:cNvSpPr txBox="true"/>
          <p:nvPr/>
        </p:nvSpPr>
        <p:spPr>
          <a:xfrm rot="0">
            <a:off x="12972679" y="4818712"/>
            <a:ext cx="1660791" cy="2070678"/>
          </a:xfrm>
          <a:prstGeom prst="rect">
            <a:avLst/>
          </a:prstGeom>
        </p:spPr>
        <p:txBody>
          <a:bodyPr anchor="t" rtlCol="false" tIns="0" lIns="0" bIns="0" rIns="0">
            <a:spAutoFit/>
          </a:bodyPr>
          <a:lstStyle/>
          <a:p>
            <a:pPr algn="ctr" rtl="true">
              <a:lnSpc>
                <a:spcPts val="15678"/>
              </a:lnSpc>
              <a:spcBef>
                <a:spcPct val="0"/>
              </a:spcBef>
            </a:pPr>
            <a:r>
              <a:rPr lang="ar-EG" b="true" sz="15370">
                <a:solidFill>
                  <a:srgbClr val="D39117"/>
                </a:solidFill>
                <a:latin typeface="Fenoon Rounded"/>
                <a:ea typeface="Fenoon Rounded"/>
                <a:cs typeface="Fenoon Rounded"/>
                <a:sym typeface="Fenoon Rounded"/>
                <a:rtl val="true"/>
              </a:rPr>
              <a:t>مراد</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680822" y="1028700"/>
            <a:ext cx="5639238" cy="8229600"/>
          </a:xfrm>
          <a:custGeom>
            <a:avLst/>
            <a:gdLst/>
            <a:ahLst/>
            <a:cxnLst/>
            <a:rect r="r" b="b" t="t" l="l"/>
            <a:pathLst>
              <a:path h="8229600" w="5639238">
                <a:moveTo>
                  <a:pt x="0" y="0"/>
                </a:moveTo>
                <a:lnTo>
                  <a:pt x="5639238" y="0"/>
                </a:lnTo>
                <a:lnTo>
                  <a:pt x="5639238" y="8229600"/>
                </a:lnTo>
                <a:lnTo>
                  <a:pt x="0" y="8229600"/>
                </a:lnTo>
                <a:lnTo>
                  <a:pt x="0" y="0"/>
                </a:lnTo>
                <a:close/>
              </a:path>
            </a:pathLst>
          </a:custGeom>
          <a:blipFill>
            <a:blip r:embed="rId2"/>
            <a:stretch>
              <a:fillRect l="-119038" t="0" r="0" b="0"/>
            </a:stretch>
          </a:blipFill>
        </p:spPr>
      </p:sp>
      <p:sp>
        <p:nvSpPr>
          <p:cNvPr name="Freeform 3" id="3"/>
          <p:cNvSpPr/>
          <p:nvPr/>
        </p:nvSpPr>
        <p:spPr>
          <a:xfrm flipH="false" flipV="false" rot="0">
            <a:off x="15241432" y="3285789"/>
            <a:ext cx="6093136" cy="4154411"/>
          </a:xfrm>
          <a:custGeom>
            <a:avLst/>
            <a:gdLst/>
            <a:ahLst/>
            <a:cxnLst/>
            <a:rect r="r" b="b" t="t" l="l"/>
            <a:pathLst>
              <a:path h="4154411" w="6093136">
                <a:moveTo>
                  <a:pt x="0" y="0"/>
                </a:moveTo>
                <a:lnTo>
                  <a:pt x="6093136" y="0"/>
                </a:lnTo>
                <a:lnTo>
                  <a:pt x="6093136" y="4154411"/>
                </a:lnTo>
                <a:lnTo>
                  <a:pt x="0" y="41544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171680" y="4141018"/>
            <a:ext cx="5006007" cy="4000278"/>
          </a:xfrm>
          <a:prstGeom prst="rect">
            <a:avLst/>
          </a:prstGeom>
        </p:spPr>
        <p:txBody>
          <a:bodyPr anchor="t" rtlCol="false" tIns="0" lIns="0" bIns="0" rIns="0">
            <a:spAutoFit/>
          </a:bodyPr>
          <a:lstStyle/>
          <a:p>
            <a:pPr algn="r" rtl="true">
              <a:lnSpc>
                <a:spcPts val="3317"/>
              </a:lnSpc>
            </a:pPr>
            <a:r>
              <a:rPr lang="ar-EG" sz="2369">
                <a:solidFill>
                  <a:srgbClr val="EADDCA"/>
                </a:solidFill>
                <a:latin typeface="Bedayah"/>
                <a:ea typeface="Bedayah"/>
                <a:cs typeface="Bedayah"/>
                <a:sym typeface="Bedayah"/>
                <a:rtl val="true"/>
              </a:rPr>
              <a:t>مصور محترف يتمتع بخبرة واسعة تمتد لأكثر من </a:t>
            </a:r>
            <a:r>
              <a:rPr lang="en-US" sz="2369">
                <a:solidFill>
                  <a:srgbClr val="EADDCA"/>
                </a:solidFill>
                <a:latin typeface="Bedayah"/>
                <a:ea typeface="Bedayah"/>
                <a:cs typeface="Bedayah"/>
                <a:sym typeface="Bedayah"/>
              </a:rPr>
              <a:t>١٥</a:t>
            </a:r>
            <a:r>
              <a:rPr lang="ar-EG" sz="2369">
                <a:solidFill>
                  <a:srgbClr val="EADDCA"/>
                </a:solidFill>
                <a:latin typeface="Bedayah"/>
                <a:ea typeface="Bedayah"/>
                <a:cs typeface="Bedayah"/>
                <a:sym typeface="Bedayah"/>
                <a:rtl val="true"/>
              </a:rPr>
              <a:t> عامًا في مجال التصوير الفوتوغرافي. تخصص في  تصوير البورتريه، الطبيعة، الأزياء، أو الأحداث. يتميز الإسلوب الإبداعي الذي يجمع بين الجمالية البصرية والتقنيات الفنية المتقدمة، مما يعكس شغفه بالتقاط اللحظات المميزة وتحويلها إلى صور خلابة.</a:t>
            </a:r>
          </a:p>
          <a:p>
            <a:pPr algn="r" rtl="true">
              <a:lnSpc>
                <a:spcPts val="3317"/>
              </a:lnSpc>
            </a:pPr>
          </a:p>
          <a:p>
            <a:pPr algn="r" rtl="true">
              <a:lnSpc>
                <a:spcPts val="3317"/>
              </a:lnSpc>
            </a:pPr>
          </a:p>
        </p:txBody>
      </p:sp>
      <p:sp>
        <p:nvSpPr>
          <p:cNvPr name="TextBox 5" id="5"/>
          <p:cNvSpPr txBox="true"/>
          <p:nvPr/>
        </p:nvSpPr>
        <p:spPr>
          <a:xfrm rot="0">
            <a:off x="4155196" y="2873264"/>
            <a:ext cx="4022490" cy="902486"/>
          </a:xfrm>
          <a:prstGeom prst="rect">
            <a:avLst/>
          </a:prstGeom>
        </p:spPr>
        <p:txBody>
          <a:bodyPr anchor="t" rtlCol="false" tIns="0" lIns="0" bIns="0" rIns="0">
            <a:spAutoFit/>
          </a:bodyPr>
          <a:lstStyle/>
          <a:p>
            <a:pPr algn="r" rtl="true">
              <a:lnSpc>
                <a:spcPts val="7647"/>
              </a:lnSpc>
            </a:pPr>
            <a:r>
              <a:rPr lang="ar-EG" sz="5462">
                <a:solidFill>
                  <a:srgbClr val="EADDCA"/>
                </a:solidFill>
                <a:latin typeface="Aqlaam"/>
                <a:ea typeface="Aqlaam"/>
                <a:cs typeface="Aqlaam"/>
                <a:sym typeface="Aqlaam"/>
                <a:rtl val="true"/>
              </a:rPr>
              <a:t>نبذه عني</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22" y="-66076"/>
            <a:ext cx="3152752" cy="5246370"/>
            <a:chOff x="0" y="0"/>
            <a:chExt cx="488444" cy="812800"/>
          </a:xfrm>
        </p:grpSpPr>
        <p:sp>
          <p:nvSpPr>
            <p:cNvPr name="Freeform 3" id="3"/>
            <p:cNvSpPr/>
            <p:nvPr/>
          </p:nvSpPr>
          <p:spPr>
            <a:xfrm flipH="false" flipV="false" rot="0">
              <a:off x="0" y="0"/>
              <a:ext cx="488444" cy="812800"/>
            </a:xfrm>
            <a:custGeom>
              <a:avLst/>
              <a:gdLst/>
              <a:ahLst/>
              <a:cxnLst/>
              <a:rect r="r" b="b" t="t" l="l"/>
              <a:pathLst>
                <a:path h="812800" w="488444">
                  <a:moveTo>
                    <a:pt x="0" y="0"/>
                  </a:moveTo>
                  <a:lnTo>
                    <a:pt x="488444" y="0"/>
                  </a:lnTo>
                  <a:lnTo>
                    <a:pt x="488444" y="812800"/>
                  </a:lnTo>
                  <a:lnTo>
                    <a:pt x="0" y="812800"/>
                  </a:lnTo>
                  <a:close/>
                </a:path>
              </a:pathLst>
            </a:custGeom>
            <a:blipFill>
              <a:blip r:embed="rId2"/>
              <a:stretch>
                <a:fillRect l="-75117" t="0" r="-75117" b="0"/>
              </a:stretch>
            </a:blipFill>
          </p:spPr>
        </p:sp>
      </p:grpSp>
      <p:grpSp>
        <p:nvGrpSpPr>
          <p:cNvPr name="Group 4" id="4"/>
          <p:cNvGrpSpPr/>
          <p:nvPr/>
        </p:nvGrpSpPr>
        <p:grpSpPr>
          <a:xfrm rot="0">
            <a:off x="-158822" y="5526314"/>
            <a:ext cx="3152752" cy="2429956"/>
            <a:chOff x="0" y="0"/>
            <a:chExt cx="488444" cy="376464"/>
          </a:xfrm>
        </p:grpSpPr>
        <p:sp>
          <p:nvSpPr>
            <p:cNvPr name="Freeform 5" id="5"/>
            <p:cNvSpPr/>
            <p:nvPr/>
          </p:nvSpPr>
          <p:spPr>
            <a:xfrm flipH="false" flipV="false" rot="0">
              <a:off x="0" y="0"/>
              <a:ext cx="488444" cy="376464"/>
            </a:xfrm>
            <a:custGeom>
              <a:avLst/>
              <a:gdLst/>
              <a:ahLst/>
              <a:cxnLst/>
              <a:rect r="r" b="b" t="t" l="l"/>
              <a:pathLst>
                <a:path h="376464" w="488444">
                  <a:moveTo>
                    <a:pt x="0" y="0"/>
                  </a:moveTo>
                  <a:lnTo>
                    <a:pt x="488444" y="0"/>
                  </a:lnTo>
                  <a:lnTo>
                    <a:pt x="488444" y="376464"/>
                  </a:lnTo>
                  <a:lnTo>
                    <a:pt x="0" y="376464"/>
                  </a:lnTo>
                  <a:close/>
                </a:path>
              </a:pathLst>
            </a:custGeom>
            <a:blipFill>
              <a:blip r:embed="rId3"/>
              <a:stretch>
                <a:fillRect l="-7733" t="0" r="-7733" b="0"/>
              </a:stretch>
            </a:blipFill>
          </p:spPr>
        </p:sp>
      </p:grpSp>
      <p:grpSp>
        <p:nvGrpSpPr>
          <p:cNvPr name="Group 6" id="6"/>
          <p:cNvGrpSpPr/>
          <p:nvPr/>
        </p:nvGrpSpPr>
        <p:grpSpPr>
          <a:xfrm rot="0">
            <a:off x="3330231" y="0"/>
            <a:ext cx="3152752" cy="5719926"/>
            <a:chOff x="0" y="0"/>
            <a:chExt cx="488444" cy="886166"/>
          </a:xfrm>
        </p:grpSpPr>
        <p:sp>
          <p:nvSpPr>
            <p:cNvPr name="Freeform 7" id="7"/>
            <p:cNvSpPr/>
            <p:nvPr/>
          </p:nvSpPr>
          <p:spPr>
            <a:xfrm flipH="false" flipV="false" rot="0">
              <a:off x="0" y="0"/>
              <a:ext cx="488444" cy="886166"/>
            </a:xfrm>
            <a:custGeom>
              <a:avLst/>
              <a:gdLst/>
              <a:ahLst/>
              <a:cxnLst/>
              <a:rect r="r" b="b" t="t" l="l"/>
              <a:pathLst>
                <a:path h="886166" w="488444">
                  <a:moveTo>
                    <a:pt x="0" y="0"/>
                  </a:moveTo>
                  <a:lnTo>
                    <a:pt x="488444" y="0"/>
                  </a:lnTo>
                  <a:lnTo>
                    <a:pt x="488444" y="886166"/>
                  </a:lnTo>
                  <a:lnTo>
                    <a:pt x="0" y="886166"/>
                  </a:lnTo>
                  <a:close/>
                </a:path>
              </a:pathLst>
            </a:custGeom>
            <a:blipFill>
              <a:blip r:embed="rId4"/>
              <a:stretch>
                <a:fillRect l="-158079" t="0" r="-14229" b="0"/>
              </a:stretch>
            </a:blipFill>
          </p:spPr>
        </p:sp>
      </p:grpSp>
      <p:grpSp>
        <p:nvGrpSpPr>
          <p:cNvPr name="Group 8" id="8"/>
          <p:cNvGrpSpPr/>
          <p:nvPr/>
        </p:nvGrpSpPr>
        <p:grpSpPr>
          <a:xfrm rot="0">
            <a:off x="3330231" y="6115081"/>
            <a:ext cx="3152752" cy="5719926"/>
            <a:chOff x="0" y="0"/>
            <a:chExt cx="488444" cy="886166"/>
          </a:xfrm>
        </p:grpSpPr>
        <p:sp>
          <p:nvSpPr>
            <p:cNvPr name="Freeform 9" id="9"/>
            <p:cNvSpPr/>
            <p:nvPr/>
          </p:nvSpPr>
          <p:spPr>
            <a:xfrm flipH="false" flipV="false" rot="0">
              <a:off x="0" y="0"/>
              <a:ext cx="488444" cy="886166"/>
            </a:xfrm>
            <a:custGeom>
              <a:avLst/>
              <a:gdLst/>
              <a:ahLst/>
              <a:cxnLst/>
              <a:rect r="r" b="b" t="t" l="l"/>
              <a:pathLst>
                <a:path h="886166" w="488444">
                  <a:moveTo>
                    <a:pt x="0" y="0"/>
                  </a:moveTo>
                  <a:lnTo>
                    <a:pt x="488444" y="0"/>
                  </a:lnTo>
                  <a:lnTo>
                    <a:pt x="488444" y="886166"/>
                  </a:lnTo>
                  <a:lnTo>
                    <a:pt x="0" y="886166"/>
                  </a:lnTo>
                  <a:close/>
                </a:path>
              </a:pathLst>
            </a:custGeom>
            <a:blipFill>
              <a:blip r:embed="rId5"/>
              <a:stretch>
                <a:fillRect l="-130476" t="0" r="-53002" b="0"/>
              </a:stretch>
            </a:blipFill>
          </p:spPr>
        </p:sp>
      </p:grpSp>
      <p:grpSp>
        <p:nvGrpSpPr>
          <p:cNvPr name="Group 10" id="10"/>
          <p:cNvGrpSpPr/>
          <p:nvPr/>
        </p:nvGrpSpPr>
        <p:grpSpPr>
          <a:xfrm rot="0">
            <a:off x="-158822" y="8299170"/>
            <a:ext cx="3152752" cy="5719926"/>
            <a:chOff x="0" y="0"/>
            <a:chExt cx="488444" cy="886166"/>
          </a:xfrm>
        </p:grpSpPr>
        <p:sp>
          <p:nvSpPr>
            <p:cNvPr name="Freeform 11" id="11"/>
            <p:cNvSpPr/>
            <p:nvPr/>
          </p:nvSpPr>
          <p:spPr>
            <a:xfrm flipH="false" flipV="false" rot="0">
              <a:off x="0" y="0"/>
              <a:ext cx="488444" cy="886166"/>
            </a:xfrm>
            <a:custGeom>
              <a:avLst/>
              <a:gdLst/>
              <a:ahLst/>
              <a:cxnLst/>
              <a:rect r="r" b="b" t="t" l="l"/>
              <a:pathLst>
                <a:path h="886166" w="488444">
                  <a:moveTo>
                    <a:pt x="0" y="0"/>
                  </a:moveTo>
                  <a:lnTo>
                    <a:pt x="488444" y="0"/>
                  </a:lnTo>
                  <a:lnTo>
                    <a:pt x="488444" y="886166"/>
                  </a:lnTo>
                  <a:lnTo>
                    <a:pt x="0" y="886166"/>
                  </a:lnTo>
                  <a:close/>
                </a:path>
              </a:pathLst>
            </a:custGeom>
            <a:blipFill>
              <a:blip r:embed="rId6"/>
              <a:stretch>
                <a:fillRect l="-86069" t="0" r="-86069" b="0"/>
              </a:stretch>
            </a:blipFill>
          </p:spPr>
        </p:sp>
      </p:grpSp>
      <p:sp>
        <p:nvSpPr>
          <p:cNvPr name="TextBox 12" id="12"/>
          <p:cNvSpPr txBox="true"/>
          <p:nvPr/>
        </p:nvSpPr>
        <p:spPr>
          <a:xfrm rot="0">
            <a:off x="9966082" y="4901693"/>
            <a:ext cx="5006007" cy="2796424"/>
          </a:xfrm>
          <a:prstGeom prst="rect">
            <a:avLst/>
          </a:prstGeom>
        </p:spPr>
        <p:txBody>
          <a:bodyPr anchor="t" rtlCol="false" tIns="0" lIns="0" bIns="0" rIns="0">
            <a:spAutoFit/>
          </a:bodyPr>
          <a:lstStyle/>
          <a:p>
            <a:pPr algn="r" rtl="true">
              <a:lnSpc>
                <a:spcPts val="3317"/>
              </a:lnSpc>
            </a:pPr>
            <a:r>
              <a:rPr lang="ar-EG" sz="2369">
                <a:solidFill>
                  <a:srgbClr val="000000"/>
                </a:solidFill>
                <a:latin typeface="Bedayah"/>
                <a:ea typeface="Bedayah"/>
                <a:cs typeface="Bedayah"/>
                <a:sym typeface="Bedayah"/>
                <a:rtl val="true"/>
              </a:rPr>
              <a:t>خلال مسيرتي المهنية، عملت مع العديد من العملاء البارزين والشركات العالمية، وساهمت أعمال في حملات إعلانية ومعارض فنية. بفضل رؤيته الفنية الفريدة والإهتمام بالتفاصيل، استطعت بناء سمعة مرموقة في مجال التصوير، وجذب جمهور واسع يتابع أعماله بشغف.</a:t>
            </a:r>
          </a:p>
        </p:txBody>
      </p:sp>
      <p:sp>
        <p:nvSpPr>
          <p:cNvPr name="TextBox 13" id="13"/>
          <p:cNvSpPr txBox="true"/>
          <p:nvPr/>
        </p:nvSpPr>
        <p:spPr>
          <a:xfrm rot="0">
            <a:off x="9966082" y="3259262"/>
            <a:ext cx="5006007" cy="902486"/>
          </a:xfrm>
          <a:prstGeom prst="rect">
            <a:avLst/>
          </a:prstGeom>
        </p:spPr>
        <p:txBody>
          <a:bodyPr anchor="t" rtlCol="false" tIns="0" lIns="0" bIns="0" rIns="0">
            <a:spAutoFit/>
          </a:bodyPr>
          <a:lstStyle/>
          <a:p>
            <a:pPr algn="r" rtl="true">
              <a:lnSpc>
                <a:spcPts val="7647"/>
              </a:lnSpc>
            </a:pPr>
            <a:r>
              <a:rPr lang="ar-EG" sz="5462">
                <a:solidFill>
                  <a:srgbClr val="000000"/>
                </a:solidFill>
                <a:latin typeface="Aqlaam"/>
                <a:ea typeface="Aqlaam"/>
                <a:cs typeface="Aqlaam"/>
                <a:sym typeface="Aqlaam"/>
                <a:rtl val="true"/>
              </a:rPr>
              <a:t>خبرتي المهنية</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3128117" y="-1257254"/>
            <a:ext cx="3687945" cy="2514508"/>
          </a:xfrm>
          <a:custGeom>
            <a:avLst/>
            <a:gdLst/>
            <a:ahLst/>
            <a:cxnLst/>
            <a:rect r="r" b="b" t="t" l="l"/>
            <a:pathLst>
              <a:path h="2514508" w="3687945">
                <a:moveTo>
                  <a:pt x="0" y="0"/>
                </a:moveTo>
                <a:lnTo>
                  <a:pt x="3687945" y="0"/>
                </a:lnTo>
                <a:lnTo>
                  <a:pt x="3687945" y="2514508"/>
                </a:lnTo>
                <a:lnTo>
                  <a:pt x="0" y="2514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7539519" cy="8229600"/>
            <a:chOff x="0" y="0"/>
            <a:chExt cx="1985717" cy="2167467"/>
          </a:xfrm>
        </p:grpSpPr>
        <p:sp>
          <p:nvSpPr>
            <p:cNvPr name="Freeform 4" id="4"/>
            <p:cNvSpPr/>
            <p:nvPr/>
          </p:nvSpPr>
          <p:spPr>
            <a:xfrm flipH="false" flipV="false" rot="0">
              <a:off x="0" y="0"/>
              <a:ext cx="1985717" cy="2167467"/>
            </a:xfrm>
            <a:custGeom>
              <a:avLst/>
              <a:gdLst/>
              <a:ahLst/>
              <a:cxnLst/>
              <a:rect r="r" b="b" t="t" l="l"/>
              <a:pathLst>
                <a:path h="2167467" w="1985717">
                  <a:moveTo>
                    <a:pt x="0" y="0"/>
                  </a:moveTo>
                  <a:lnTo>
                    <a:pt x="1985717" y="0"/>
                  </a:lnTo>
                  <a:lnTo>
                    <a:pt x="1985717" y="2167467"/>
                  </a:lnTo>
                  <a:lnTo>
                    <a:pt x="0" y="2167467"/>
                  </a:lnTo>
                  <a:close/>
                </a:path>
              </a:pathLst>
            </a:custGeom>
            <a:solidFill>
              <a:srgbClr val="000000"/>
            </a:solidFill>
          </p:spPr>
        </p:sp>
        <p:sp>
          <p:nvSpPr>
            <p:cNvPr name="TextBox 5" id="5"/>
            <p:cNvSpPr txBox="true"/>
            <p:nvPr/>
          </p:nvSpPr>
          <p:spPr>
            <a:xfrm>
              <a:off x="0" y="-38100"/>
              <a:ext cx="1985717" cy="220556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484996" y="4944936"/>
            <a:ext cx="5006007" cy="1993855"/>
          </a:xfrm>
          <a:prstGeom prst="rect">
            <a:avLst/>
          </a:prstGeom>
        </p:spPr>
        <p:txBody>
          <a:bodyPr anchor="t" rtlCol="false" tIns="0" lIns="0" bIns="0" rIns="0">
            <a:spAutoFit/>
          </a:bodyPr>
          <a:lstStyle/>
          <a:p>
            <a:pPr algn="r" rtl="true">
              <a:lnSpc>
                <a:spcPts val="3317"/>
              </a:lnSpc>
            </a:pPr>
            <a:r>
              <a:rPr lang="ar-EG" sz="2369">
                <a:solidFill>
                  <a:srgbClr val="000000"/>
                </a:solidFill>
                <a:latin typeface="Bedayah"/>
                <a:ea typeface="Bedayah"/>
                <a:cs typeface="Bedayah"/>
                <a:sym typeface="Bedayah"/>
                <a:rtl val="true"/>
              </a:rPr>
              <a:t>لقد حصلت على العديد من الجوائز المرموقة تقديرًا لاعمالي الإبداعية وتميزي في مجال التصوير، حيث نلت صوره إعجاب النقاد والمتخصصين في العديد من المسابقات والمعارض.</a:t>
            </a:r>
          </a:p>
        </p:txBody>
      </p:sp>
      <p:sp>
        <p:nvSpPr>
          <p:cNvPr name="TextBox 7" id="7"/>
          <p:cNvSpPr txBox="true"/>
          <p:nvPr/>
        </p:nvSpPr>
        <p:spPr>
          <a:xfrm rot="0">
            <a:off x="10484996" y="2831587"/>
            <a:ext cx="5006007" cy="1536224"/>
          </a:xfrm>
          <a:prstGeom prst="rect">
            <a:avLst/>
          </a:prstGeom>
        </p:spPr>
        <p:txBody>
          <a:bodyPr anchor="t" rtlCol="false" tIns="0" lIns="0" bIns="0" rIns="0">
            <a:spAutoFit/>
          </a:bodyPr>
          <a:lstStyle/>
          <a:p>
            <a:pPr algn="r" rtl="true">
              <a:lnSpc>
                <a:spcPts val="6008"/>
              </a:lnSpc>
            </a:pPr>
            <a:r>
              <a:rPr lang="ar-EG" sz="5462">
                <a:solidFill>
                  <a:srgbClr val="000000"/>
                </a:solidFill>
                <a:latin typeface="Aqlaam"/>
                <a:ea typeface="Aqlaam"/>
                <a:cs typeface="Aqlaam"/>
                <a:sym typeface="Aqlaam"/>
                <a:rtl val="true"/>
              </a:rPr>
              <a:t>الشهادات و التقديرات</a:t>
            </a:r>
          </a:p>
        </p:txBody>
      </p:sp>
      <p:grpSp>
        <p:nvGrpSpPr>
          <p:cNvPr name="Group 8" id="8"/>
          <p:cNvGrpSpPr/>
          <p:nvPr/>
        </p:nvGrpSpPr>
        <p:grpSpPr>
          <a:xfrm rot="0">
            <a:off x="2236975" y="1755715"/>
            <a:ext cx="5122969" cy="3261681"/>
            <a:chOff x="0" y="0"/>
            <a:chExt cx="1138563" cy="724898"/>
          </a:xfrm>
        </p:grpSpPr>
        <p:sp>
          <p:nvSpPr>
            <p:cNvPr name="Freeform 9" id="9"/>
            <p:cNvSpPr/>
            <p:nvPr/>
          </p:nvSpPr>
          <p:spPr>
            <a:xfrm flipH="false" flipV="false" rot="0">
              <a:off x="0" y="0"/>
              <a:ext cx="1138563" cy="724898"/>
            </a:xfrm>
            <a:custGeom>
              <a:avLst/>
              <a:gdLst/>
              <a:ahLst/>
              <a:cxnLst/>
              <a:rect r="r" b="b" t="t" l="l"/>
              <a:pathLst>
                <a:path h="724898" w="1138563">
                  <a:moveTo>
                    <a:pt x="0" y="0"/>
                  </a:moveTo>
                  <a:lnTo>
                    <a:pt x="1138563" y="0"/>
                  </a:lnTo>
                  <a:lnTo>
                    <a:pt x="1138563" y="724898"/>
                  </a:lnTo>
                  <a:lnTo>
                    <a:pt x="0" y="724898"/>
                  </a:lnTo>
                  <a:close/>
                </a:path>
              </a:pathLst>
            </a:custGeom>
            <a:blipFill>
              <a:blip r:embed="rId4"/>
              <a:stretch>
                <a:fillRect l="0" t="-2420" r="0" b="-2420"/>
              </a:stretch>
            </a:blipFill>
          </p:spPr>
        </p:sp>
      </p:grpSp>
      <p:grpSp>
        <p:nvGrpSpPr>
          <p:cNvPr name="Group 10" id="10"/>
          <p:cNvGrpSpPr/>
          <p:nvPr/>
        </p:nvGrpSpPr>
        <p:grpSpPr>
          <a:xfrm rot="0">
            <a:off x="2236975" y="5269604"/>
            <a:ext cx="5122969" cy="3261681"/>
            <a:chOff x="0" y="0"/>
            <a:chExt cx="1138563" cy="724898"/>
          </a:xfrm>
        </p:grpSpPr>
        <p:sp>
          <p:nvSpPr>
            <p:cNvPr name="Freeform 11" id="11"/>
            <p:cNvSpPr/>
            <p:nvPr/>
          </p:nvSpPr>
          <p:spPr>
            <a:xfrm flipH="false" flipV="false" rot="0">
              <a:off x="0" y="0"/>
              <a:ext cx="1138563" cy="724898"/>
            </a:xfrm>
            <a:custGeom>
              <a:avLst/>
              <a:gdLst/>
              <a:ahLst/>
              <a:cxnLst/>
              <a:rect r="r" b="b" t="t" l="l"/>
              <a:pathLst>
                <a:path h="724898" w="1138563">
                  <a:moveTo>
                    <a:pt x="0" y="0"/>
                  </a:moveTo>
                  <a:lnTo>
                    <a:pt x="1138563" y="0"/>
                  </a:lnTo>
                  <a:lnTo>
                    <a:pt x="1138563" y="724898"/>
                  </a:lnTo>
                  <a:lnTo>
                    <a:pt x="0" y="724898"/>
                  </a:lnTo>
                  <a:close/>
                </a:path>
              </a:pathLst>
            </a:custGeom>
            <a:blipFill>
              <a:blip r:embed="rId5"/>
              <a:stretch>
                <a:fillRect l="0" t="-67872" r="0" b="-67872"/>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384898" y="6629804"/>
            <a:ext cx="3825684" cy="3657196"/>
            <a:chOff x="0" y="0"/>
            <a:chExt cx="850246" cy="812800"/>
          </a:xfrm>
        </p:grpSpPr>
        <p:sp>
          <p:nvSpPr>
            <p:cNvPr name="Freeform 3" id="3"/>
            <p:cNvSpPr/>
            <p:nvPr/>
          </p:nvSpPr>
          <p:spPr>
            <a:xfrm flipH="false" flipV="false" rot="0">
              <a:off x="0" y="0"/>
              <a:ext cx="850246" cy="812800"/>
            </a:xfrm>
            <a:custGeom>
              <a:avLst/>
              <a:gdLst/>
              <a:ahLst/>
              <a:cxnLst/>
              <a:rect r="r" b="b" t="t" l="l"/>
              <a:pathLst>
                <a:path h="812800" w="850246">
                  <a:moveTo>
                    <a:pt x="0" y="0"/>
                  </a:moveTo>
                  <a:lnTo>
                    <a:pt x="850246" y="0"/>
                  </a:lnTo>
                  <a:lnTo>
                    <a:pt x="850246" y="812800"/>
                  </a:lnTo>
                  <a:lnTo>
                    <a:pt x="0" y="812800"/>
                  </a:lnTo>
                  <a:close/>
                </a:path>
              </a:pathLst>
            </a:custGeom>
            <a:blipFill>
              <a:blip r:embed="rId2"/>
              <a:stretch>
                <a:fillRect l="0" t="-28504" r="0" b="-28504"/>
              </a:stretch>
            </a:blipFill>
          </p:spPr>
        </p:sp>
      </p:grpSp>
      <p:grpSp>
        <p:nvGrpSpPr>
          <p:cNvPr name="Group 4" id="4"/>
          <p:cNvGrpSpPr/>
          <p:nvPr/>
        </p:nvGrpSpPr>
        <p:grpSpPr>
          <a:xfrm rot="0">
            <a:off x="4194345" y="6629804"/>
            <a:ext cx="3825684" cy="3657196"/>
            <a:chOff x="0" y="0"/>
            <a:chExt cx="850246" cy="812800"/>
          </a:xfrm>
        </p:grpSpPr>
        <p:sp>
          <p:nvSpPr>
            <p:cNvPr name="Freeform 5" id="5"/>
            <p:cNvSpPr/>
            <p:nvPr/>
          </p:nvSpPr>
          <p:spPr>
            <a:xfrm flipH="false" flipV="false" rot="0">
              <a:off x="0" y="0"/>
              <a:ext cx="850246" cy="812800"/>
            </a:xfrm>
            <a:custGeom>
              <a:avLst/>
              <a:gdLst/>
              <a:ahLst/>
              <a:cxnLst/>
              <a:rect r="r" b="b" t="t" l="l"/>
              <a:pathLst>
                <a:path h="812800" w="850246">
                  <a:moveTo>
                    <a:pt x="0" y="0"/>
                  </a:moveTo>
                  <a:lnTo>
                    <a:pt x="850246" y="0"/>
                  </a:lnTo>
                  <a:lnTo>
                    <a:pt x="850246" y="812800"/>
                  </a:lnTo>
                  <a:lnTo>
                    <a:pt x="0" y="812800"/>
                  </a:lnTo>
                  <a:close/>
                </a:path>
              </a:pathLst>
            </a:custGeom>
            <a:blipFill>
              <a:blip r:embed="rId3"/>
              <a:stretch>
                <a:fillRect l="0" t="-28504" r="0" b="-28504"/>
              </a:stretch>
            </a:blipFill>
          </p:spPr>
        </p:sp>
      </p:grpSp>
      <p:grpSp>
        <p:nvGrpSpPr>
          <p:cNvPr name="Group 6" id="6"/>
          <p:cNvGrpSpPr/>
          <p:nvPr/>
        </p:nvGrpSpPr>
        <p:grpSpPr>
          <a:xfrm rot="0">
            <a:off x="0" y="6629804"/>
            <a:ext cx="3825684" cy="3657196"/>
            <a:chOff x="0" y="0"/>
            <a:chExt cx="850246" cy="812800"/>
          </a:xfrm>
        </p:grpSpPr>
        <p:sp>
          <p:nvSpPr>
            <p:cNvPr name="Freeform 7" id="7"/>
            <p:cNvSpPr/>
            <p:nvPr/>
          </p:nvSpPr>
          <p:spPr>
            <a:xfrm flipH="false" flipV="false" rot="0">
              <a:off x="0" y="0"/>
              <a:ext cx="850246" cy="812800"/>
            </a:xfrm>
            <a:custGeom>
              <a:avLst/>
              <a:gdLst/>
              <a:ahLst/>
              <a:cxnLst/>
              <a:rect r="r" b="b" t="t" l="l"/>
              <a:pathLst>
                <a:path h="812800" w="850246">
                  <a:moveTo>
                    <a:pt x="0" y="0"/>
                  </a:moveTo>
                  <a:lnTo>
                    <a:pt x="850246" y="0"/>
                  </a:lnTo>
                  <a:lnTo>
                    <a:pt x="850246" y="812800"/>
                  </a:lnTo>
                  <a:lnTo>
                    <a:pt x="0" y="812800"/>
                  </a:lnTo>
                  <a:close/>
                </a:path>
              </a:pathLst>
            </a:custGeom>
            <a:blipFill>
              <a:blip r:embed="rId4"/>
              <a:stretch>
                <a:fillRect l="-13730" t="0" r="-13730" b="0"/>
              </a:stretch>
            </a:blipFill>
          </p:spPr>
        </p:sp>
      </p:grpSp>
      <p:sp>
        <p:nvSpPr>
          <p:cNvPr name="TextBox 8" id="8"/>
          <p:cNvSpPr txBox="true"/>
          <p:nvPr/>
        </p:nvSpPr>
        <p:spPr>
          <a:xfrm rot="0">
            <a:off x="9214095" y="4335522"/>
            <a:ext cx="2996487" cy="1193546"/>
          </a:xfrm>
          <a:prstGeom prst="rect">
            <a:avLst/>
          </a:prstGeom>
        </p:spPr>
        <p:txBody>
          <a:bodyPr anchor="t" rtlCol="false" tIns="0" lIns="0" bIns="0" rIns="0">
            <a:spAutoFit/>
          </a:bodyPr>
          <a:lstStyle/>
          <a:p>
            <a:pPr algn="r" rtl="true">
              <a:lnSpc>
                <a:spcPts val="1985"/>
              </a:lnSpc>
            </a:pPr>
            <a:r>
              <a:rPr lang="ar-EG" sz="1418">
                <a:solidFill>
                  <a:srgbClr val="000000"/>
                </a:solidFill>
                <a:latin typeface="Bedayah"/>
                <a:ea typeface="Bedayah"/>
                <a:cs typeface="Bedayah"/>
                <a:sym typeface="Bedayah"/>
                <a:rtl val="true"/>
              </a:rPr>
              <a:t>فن توثيق اللحظات الجميلة والمميزة في يوم الزفاف بطريقة إبداعية واحترافية. يهدف مصورو حفلات الزفاف إلى التقاط اللحظات العفوية والمشاعر الحقيقية بين العروسين وأحبائهم.</a:t>
            </a:r>
          </a:p>
        </p:txBody>
      </p:sp>
      <p:sp>
        <p:nvSpPr>
          <p:cNvPr name="TextBox 9" id="9"/>
          <p:cNvSpPr txBox="true"/>
          <p:nvPr/>
        </p:nvSpPr>
        <p:spPr>
          <a:xfrm rot="0">
            <a:off x="5023543" y="4139082"/>
            <a:ext cx="2996487" cy="1193546"/>
          </a:xfrm>
          <a:prstGeom prst="rect">
            <a:avLst/>
          </a:prstGeom>
        </p:spPr>
        <p:txBody>
          <a:bodyPr anchor="t" rtlCol="false" tIns="0" lIns="0" bIns="0" rIns="0">
            <a:spAutoFit/>
          </a:bodyPr>
          <a:lstStyle/>
          <a:p>
            <a:pPr algn="r" rtl="true">
              <a:lnSpc>
                <a:spcPts val="1985"/>
              </a:lnSpc>
            </a:pPr>
            <a:r>
              <a:rPr lang="ar-EG" sz="1418">
                <a:solidFill>
                  <a:srgbClr val="000000"/>
                </a:solidFill>
                <a:latin typeface="Bedayah"/>
                <a:ea typeface="Bedayah"/>
                <a:cs typeface="Bedayah"/>
                <a:sym typeface="Bedayah"/>
                <a:rtl val="true"/>
              </a:rPr>
              <a:t>يركز على إبراز الملابس، الإكسسوارات، وأسلوب الحياة بطريقة فنية وإبداعية. يهدف إلى تقديم الموضة بصورة جذابة تنقل رسالة العلامة التجارية أو المصمم بشكل مبتكر.</a:t>
            </a:r>
          </a:p>
        </p:txBody>
      </p:sp>
      <p:sp>
        <p:nvSpPr>
          <p:cNvPr name="TextBox 10" id="10"/>
          <p:cNvSpPr txBox="true"/>
          <p:nvPr/>
        </p:nvSpPr>
        <p:spPr>
          <a:xfrm rot="0">
            <a:off x="829197" y="4139082"/>
            <a:ext cx="2996487" cy="1433746"/>
          </a:xfrm>
          <a:prstGeom prst="rect">
            <a:avLst/>
          </a:prstGeom>
        </p:spPr>
        <p:txBody>
          <a:bodyPr anchor="t" rtlCol="false" tIns="0" lIns="0" bIns="0" rIns="0">
            <a:spAutoFit/>
          </a:bodyPr>
          <a:lstStyle/>
          <a:p>
            <a:pPr algn="r" rtl="true">
              <a:lnSpc>
                <a:spcPts val="1985"/>
              </a:lnSpc>
            </a:pPr>
            <a:r>
              <a:rPr lang="ar-EG" sz="1418">
                <a:solidFill>
                  <a:srgbClr val="000000"/>
                </a:solidFill>
                <a:latin typeface="Bedayah"/>
                <a:ea typeface="Bedayah"/>
                <a:cs typeface="Bedayah"/>
                <a:sym typeface="Bedayah"/>
                <a:rtl val="true"/>
              </a:rPr>
              <a:t>فن التقاط صور جذابة للأطباق والمكونات الغذائية، بهدف إبراز جماليات الطعام وإثارة الشهية لدى المشاهدين. يتطلب هذا النوع من التصوير معرفة دقيقة بالإضاءة، الزوايا، والتكوين لضمان أن تبدو الأطعمة شهية وطازجة.</a:t>
            </a:r>
          </a:p>
        </p:txBody>
      </p:sp>
      <p:sp>
        <p:nvSpPr>
          <p:cNvPr name="TextBox 11" id="11"/>
          <p:cNvSpPr txBox="true"/>
          <p:nvPr/>
        </p:nvSpPr>
        <p:spPr>
          <a:xfrm rot="0">
            <a:off x="9774167" y="3614983"/>
            <a:ext cx="2436415" cy="440506"/>
          </a:xfrm>
          <a:prstGeom prst="rect">
            <a:avLst/>
          </a:prstGeom>
        </p:spPr>
        <p:txBody>
          <a:bodyPr anchor="t" rtlCol="false" tIns="0" lIns="0" bIns="0" rIns="0">
            <a:spAutoFit/>
          </a:bodyPr>
          <a:lstStyle/>
          <a:p>
            <a:pPr algn="r" rtl="true">
              <a:lnSpc>
                <a:spcPts val="3722"/>
              </a:lnSpc>
            </a:pPr>
            <a:r>
              <a:rPr lang="ar-EG" sz="2658">
                <a:solidFill>
                  <a:srgbClr val="000000"/>
                </a:solidFill>
                <a:latin typeface="Aqlaam"/>
                <a:ea typeface="Aqlaam"/>
                <a:cs typeface="Aqlaam"/>
                <a:sym typeface="Aqlaam"/>
                <a:rtl val="true"/>
              </a:rPr>
              <a:t>تصوير الأفراح</a:t>
            </a:r>
          </a:p>
        </p:txBody>
      </p:sp>
      <p:sp>
        <p:nvSpPr>
          <p:cNvPr name="TextBox 12" id="12"/>
          <p:cNvSpPr txBox="true"/>
          <p:nvPr/>
        </p:nvSpPr>
        <p:spPr>
          <a:xfrm rot="0">
            <a:off x="5583614" y="3418543"/>
            <a:ext cx="2436415" cy="440506"/>
          </a:xfrm>
          <a:prstGeom prst="rect">
            <a:avLst/>
          </a:prstGeom>
        </p:spPr>
        <p:txBody>
          <a:bodyPr anchor="t" rtlCol="false" tIns="0" lIns="0" bIns="0" rIns="0">
            <a:spAutoFit/>
          </a:bodyPr>
          <a:lstStyle/>
          <a:p>
            <a:pPr algn="r" rtl="true">
              <a:lnSpc>
                <a:spcPts val="3722"/>
              </a:lnSpc>
            </a:pPr>
            <a:r>
              <a:rPr lang="ar-EG" sz="2658">
                <a:solidFill>
                  <a:srgbClr val="000000"/>
                </a:solidFill>
                <a:latin typeface="Aqlaam"/>
                <a:ea typeface="Aqlaam"/>
                <a:cs typeface="Aqlaam"/>
                <a:sym typeface="Aqlaam"/>
                <a:rtl val="true"/>
              </a:rPr>
              <a:t>تصوير أزياء</a:t>
            </a:r>
          </a:p>
        </p:txBody>
      </p:sp>
      <p:sp>
        <p:nvSpPr>
          <p:cNvPr name="TextBox 13" id="13"/>
          <p:cNvSpPr txBox="true"/>
          <p:nvPr/>
        </p:nvSpPr>
        <p:spPr>
          <a:xfrm rot="0">
            <a:off x="1389269" y="3418543"/>
            <a:ext cx="2436415" cy="440506"/>
          </a:xfrm>
          <a:prstGeom prst="rect">
            <a:avLst/>
          </a:prstGeom>
        </p:spPr>
        <p:txBody>
          <a:bodyPr anchor="t" rtlCol="false" tIns="0" lIns="0" bIns="0" rIns="0">
            <a:spAutoFit/>
          </a:bodyPr>
          <a:lstStyle/>
          <a:p>
            <a:pPr algn="r" rtl="true">
              <a:lnSpc>
                <a:spcPts val="3722"/>
              </a:lnSpc>
            </a:pPr>
            <a:r>
              <a:rPr lang="ar-EG" sz="2658">
                <a:solidFill>
                  <a:srgbClr val="000000"/>
                </a:solidFill>
                <a:latin typeface="Aqlaam"/>
                <a:ea typeface="Aqlaam"/>
                <a:cs typeface="Aqlaam"/>
                <a:sym typeface="Aqlaam"/>
                <a:rtl val="true"/>
              </a:rPr>
              <a:t>تصوير مأكولات</a:t>
            </a:r>
          </a:p>
        </p:txBody>
      </p:sp>
      <p:sp>
        <p:nvSpPr>
          <p:cNvPr name="Freeform 14" id="14"/>
          <p:cNvSpPr/>
          <p:nvPr/>
        </p:nvSpPr>
        <p:spPr>
          <a:xfrm flipH="false" flipV="false" rot="0">
            <a:off x="15241432" y="3285789"/>
            <a:ext cx="6093136" cy="4154411"/>
          </a:xfrm>
          <a:custGeom>
            <a:avLst/>
            <a:gdLst/>
            <a:ahLst/>
            <a:cxnLst/>
            <a:rect r="r" b="b" t="t" l="l"/>
            <a:pathLst>
              <a:path h="4154411" w="6093136">
                <a:moveTo>
                  <a:pt x="0" y="0"/>
                </a:moveTo>
                <a:lnTo>
                  <a:pt x="6093136" y="0"/>
                </a:lnTo>
                <a:lnTo>
                  <a:pt x="6093136" y="4154411"/>
                </a:lnTo>
                <a:lnTo>
                  <a:pt x="0" y="41544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6107188" y="1268282"/>
            <a:ext cx="6103395" cy="902486"/>
          </a:xfrm>
          <a:prstGeom prst="rect">
            <a:avLst/>
          </a:prstGeom>
        </p:spPr>
        <p:txBody>
          <a:bodyPr anchor="t" rtlCol="false" tIns="0" lIns="0" bIns="0" rIns="0">
            <a:spAutoFit/>
          </a:bodyPr>
          <a:lstStyle/>
          <a:p>
            <a:pPr algn="r" rtl="true">
              <a:lnSpc>
                <a:spcPts val="7647"/>
              </a:lnSpc>
            </a:pPr>
            <a:r>
              <a:rPr lang="ar-EG" sz="5462">
                <a:solidFill>
                  <a:srgbClr val="000000"/>
                </a:solidFill>
                <a:latin typeface="Aqlaam"/>
                <a:ea typeface="Aqlaam"/>
                <a:cs typeface="Aqlaam"/>
                <a:sym typeface="Aqlaam"/>
                <a:rtl val="true"/>
              </a:rPr>
              <a:t>نبذة عن مشاريعي</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39117"/>
        </a:solidFill>
      </p:bgPr>
    </p:bg>
    <p:spTree>
      <p:nvGrpSpPr>
        <p:cNvPr id="1" name=""/>
        <p:cNvGrpSpPr/>
        <p:nvPr/>
      </p:nvGrpSpPr>
      <p:grpSpPr>
        <a:xfrm>
          <a:off x="0" y="0"/>
          <a:ext cx="0" cy="0"/>
          <a:chOff x="0" y="0"/>
          <a:chExt cx="0" cy="0"/>
        </a:xfrm>
      </p:grpSpPr>
      <p:grpSp>
        <p:nvGrpSpPr>
          <p:cNvPr name="Group 2" id="2"/>
          <p:cNvGrpSpPr/>
          <p:nvPr/>
        </p:nvGrpSpPr>
        <p:grpSpPr>
          <a:xfrm rot="0">
            <a:off x="0" y="0"/>
            <a:ext cx="8903230" cy="10287000"/>
            <a:chOff x="0" y="0"/>
            <a:chExt cx="703465" cy="812800"/>
          </a:xfrm>
        </p:grpSpPr>
        <p:sp>
          <p:nvSpPr>
            <p:cNvPr name="Freeform 3" id="3"/>
            <p:cNvSpPr/>
            <p:nvPr/>
          </p:nvSpPr>
          <p:spPr>
            <a:xfrm flipH="false" flipV="false" rot="0">
              <a:off x="0" y="0"/>
              <a:ext cx="703465" cy="812800"/>
            </a:xfrm>
            <a:custGeom>
              <a:avLst/>
              <a:gdLst/>
              <a:ahLst/>
              <a:cxnLst/>
              <a:rect r="r" b="b" t="t" l="l"/>
              <a:pathLst>
                <a:path h="812800" w="703465">
                  <a:moveTo>
                    <a:pt x="0" y="0"/>
                  </a:moveTo>
                  <a:lnTo>
                    <a:pt x="703465" y="0"/>
                  </a:lnTo>
                  <a:lnTo>
                    <a:pt x="703465" y="812800"/>
                  </a:lnTo>
                  <a:lnTo>
                    <a:pt x="0" y="812800"/>
                  </a:lnTo>
                  <a:close/>
                </a:path>
              </a:pathLst>
            </a:custGeom>
            <a:blipFill>
              <a:blip r:embed="rId2"/>
              <a:stretch>
                <a:fillRect l="-40978" t="0" r="-40978" b="0"/>
              </a:stretch>
            </a:blipFill>
          </p:spPr>
        </p:sp>
      </p:grpSp>
      <p:sp>
        <p:nvSpPr>
          <p:cNvPr name="Freeform 4" id="4"/>
          <p:cNvSpPr/>
          <p:nvPr/>
        </p:nvSpPr>
        <p:spPr>
          <a:xfrm flipH="false" flipV="false" rot="5400000">
            <a:off x="11613884" y="-1257254"/>
            <a:ext cx="3687945" cy="2514508"/>
          </a:xfrm>
          <a:custGeom>
            <a:avLst/>
            <a:gdLst/>
            <a:ahLst/>
            <a:cxnLst/>
            <a:rect r="r" b="b" t="t" l="l"/>
            <a:pathLst>
              <a:path h="2514508" w="3687945">
                <a:moveTo>
                  <a:pt x="0" y="0"/>
                </a:moveTo>
                <a:lnTo>
                  <a:pt x="3687945" y="0"/>
                </a:lnTo>
                <a:lnTo>
                  <a:pt x="3687945" y="2514508"/>
                </a:lnTo>
                <a:lnTo>
                  <a:pt x="0" y="2514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193386" y="3927803"/>
            <a:ext cx="869230" cy="845523"/>
          </a:xfrm>
          <a:custGeom>
            <a:avLst/>
            <a:gdLst/>
            <a:ahLst/>
            <a:cxnLst/>
            <a:rect r="r" b="b" t="t" l="l"/>
            <a:pathLst>
              <a:path h="845523" w="869230">
                <a:moveTo>
                  <a:pt x="0" y="0"/>
                </a:moveTo>
                <a:lnTo>
                  <a:pt x="869230" y="0"/>
                </a:lnTo>
                <a:lnTo>
                  <a:pt x="869230" y="845523"/>
                </a:lnTo>
                <a:lnTo>
                  <a:pt x="0" y="845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111902" y="5727416"/>
            <a:ext cx="950714" cy="684514"/>
          </a:xfrm>
          <a:custGeom>
            <a:avLst/>
            <a:gdLst/>
            <a:ahLst/>
            <a:cxnLst/>
            <a:rect r="r" b="b" t="t" l="l"/>
            <a:pathLst>
              <a:path h="684514" w="950714">
                <a:moveTo>
                  <a:pt x="0" y="0"/>
                </a:moveTo>
                <a:lnTo>
                  <a:pt x="950714" y="0"/>
                </a:lnTo>
                <a:lnTo>
                  <a:pt x="950714" y="684514"/>
                </a:lnTo>
                <a:lnTo>
                  <a:pt x="0" y="6845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154655" y="7444586"/>
            <a:ext cx="946692" cy="860629"/>
          </a:xfrm>
          <a:custGeom>
            <a:avLst/>
            <a:gdLst/>
            <a:ahLst/>
            <a:cxnLst/>
            <a:rect r="r" b="b" t="t" l="l"/>
            <a:pathLst>
              <a:path h="860629" w="946692">
                <a:moveTo>
                  <a:pt x="0" y="0"/>
                </a:moveTo>
                <a:lnTo>
                  <a:pt x="946692" y="0"/>
                </a:lnTo>
                <a:lnTo>
                  <a:pt x="946692" y="860629"/>
                </a:lnTo>
                <a:lnTo>
                  <a:pt x="0" y="8606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576304" y="2379000"/>
            <a:ext cx="6103395" cy="918526"/>
          </a:xfrm>
          <a:prstGeom prst="rect">
            <a:avLst/>
          </a:prstGeom>
        </p:spPr>
        <p:txBody>
          <a:bodyPr anchor="t" rtlCol="false" tIns="0" lIns="0" bIns="0" rIns="0">
            <a:spAutoFit/>
          </a:bodyPr>
          <a:lstStyle/>
          <a:p>
            <a:pPr algn="ctr" rtl="true">
              <a:lnSpc>
                <a:spcPts val="7647"/>
              </a:lnSpc>
            </a:pPr>
            <a:r>
              <a:rPr lang="ar-EG" sz="5462">
                <a:solidFill>
                  <a:srgbClr val="FFFFFF"/>
                </a:solidFill>
                <a:latin typeface="Aqlaam"/>
                <a:ea typeface="Aqlaam"/>
                <a:cs typeface="Aqlaam"/>
                <a:sym typeface="Aqlaam"/>
                <a:rtl val="true"/>
              </a:rPr>
              <a:t>طريقة العمل</a:t>
            </a:r>
          </a:p>
        </p:txBody>
      </p:sp>
      <p:sp>
        <p:nvSpPr>
          <p:cNvPr name="TextBox 9" id="9"/>
          <p:cNvSpPr txBox="true"/>
          <p:nvPr/>
        </p:nvSpPr>
        <p:spPr>
          <a:xfrm rot="0">
            <a:off x="11956076" y="4932885"/>
            <a:ext cx="3343850" cy="446821"/>
          </a:xfrm>
          <a:prstGeom prst="rect">
            <a:avLst/>
          </a:prstGeom>
        </p:spPr>
        <p:txBody>
          <a:bodyPr anchor="t" rtlCol="false" tIns="0" lIns="0" bIns="0" rIns="0">
            <a:spAutoFit/>
          </a:bodyPr>
          <a:lstStyle/>
          <a:p>
            <a:pPr algn="ctr" rtl="true">
              <a:lnSpc>
                <a:spcPts val="3722"/>
              </a:lnSpc>
            </a:pPr>
            <a:r>
              <a:rPr lang="ar-EG" sz="2658">
                <a:solidFill>
                  <a:srgbClr val="FFFFFF"/>
                </a:solidFill>
                <a:latin typeface="Aqlaam"/>
                <a:ea typeface="Aqlaam"/>
                <a:cs typeface="Aqlaam"/>
                <a:sym typeface="Aqlaam"/>
                <a:rtl val="true"/>
              </a:rPr>
              <a:t>التخطيط والتحضير</a:t>
            </a:r>
          </a:p>
        </p:txBody>
      </p:sp>
      <p:sp>
        <p:nvSpPr>
          <p:cNvPr name="TextBox 10" id="10"/>
          <p:cNvSpPr txBox="true"/>
          <p:nvPr/>
        </p:nvSpPr>
        <p:spPr>
          <a:xfrm rot="0">
            <a:off x="12409793" y="6712015"/>
            <a:ext cx="2436415" cy="446821"/>
          </a:xfrm>
          <a:prstGeom prst="rect">
            <a:avLst/>
          </a:prstGeom>
        </p:spPr>
        <p:txBody>
          <a:bodyPr anchor="t" rtlCol="false" tIns="0" lIns="0" bIns="0" rIns="0">
            <a:spAutoFit/>
          </a:bodyPr>
          <a:lstStyle/>
          <a:p>
            <a:pPr algn="ctr" rtl="true">
              <a:lnSpc>
                <a:spcPts val="3722"/>
              </a:lnSpc>
            </a:pPr>
            <a:r>
              <a:rPr lang="ar-EG" sz="2658">
                <a:solidFill>
                  <a:srgbClr val="FFFFFF"/>
                </a:solidFill>
                <a:latin typeface="Aqlaam"/>
                <a:ea typeface="Aqlaam"/>
                <a:cs typeface="Aqlaam"/>
                <a:sym typeface="Aqlaam"/>
                <a:rtl val="true"/>
              </a:rPr>
              <a:t>التصوير</a:t>
            </a:r>
          </a:p>
        </p:txBody>
      </p:sp>
      <p:sp>
        <p:nvSpPr>
          <p:cNvPr name="TextBox 11" id="11"/>
          <p:cNvSpPr txBox="true"/>
          <p:nvPr/>
        </p:nvSpPr>
        <p:spPr>
          <a:xfrm rot="0">
            <a:off x="11615788" y="8492336"/>
            <a:ext cx="3684138" cy="446821"/>
          </a:xfrm>
          <a:prstGeom prst="rect">
            <a:avLst/>
          </a:prstGeom>
        </p:spPr>
        <p:txBody>
          <a:bodyPr anchor="t" rtlCol="false" tIns="0" lIns="0" bIns="0" rIns="0">
            <a:spAutoFit/>
          </a:bodyPr>
          <a:lstStyle/>
          <a:p>
            <a:pPr algn="ctr" rtl="true">
              <a:lnSpc>
                <a:spcPts val="3722"/>
              </a:lnSpc>
            </a:pPr>
            <a:r>
              <a:rPr lang="ar-EG" sz="2658">
                <a:solidFill>
                  <a:srgbClr val="FFFFFF"/>
                </a:solidFill>
                <a:latin typeface="Aqlaam"/>
                <a:ea typeface="Aqlaam"/>
                <a:cs typeface="Aqlaam"/>
                <a:sym typeface="Aqlaam"/>
                <a:rtl val="true"/>
              </a:rPr>
              <a:t>التعديل والتحرير</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20815" y="1709512"/>
            <a:ext cx="5246370" cy="6867976"/>
            <a:chOff x="0" y="0"/>
            <a:chExt cx="812800" cy="1064029"/>
          </a:xfrm>
        </p:grpSpPr>
        <p:sp>
          <p:nvSpPr>
            <p:cNvPr name="Freeform 3" id="3"/>
            <p:cNvSpPr/>
            <p:nvPr/>
          </p:nvSpPr>
          <p:spPr>
            <a:xfrm flipH="false" flipV="false" rot="0">
              <a:off x="0" y="0"/>
              <a:ext cx="812800" cy="1064029"/>
            </a:xfrm>
            <a:custGeom>
              <a:avLst/>
              <a:gdLst/>
              <a:ahLst/>
              <a:cxnLst/>
              <a:rect r="r" b="b" t="t" l="l"/>
              <a:pathLst>
                <a:path h="1064029" w="812800">
                  <a:moveTo>
                    <a:pt x="0" y="0"/>
                  </a:moveTo>
                  <a:lnTo>
                    <a:pt x="812800" y="0"/>
                  </a:lnTo>
                  <a:lnTo>
                    <a:pt x="812800" y="1064029"/>
                  </a:lnTo>
                  <a:lnTo>
                    <a:pt x="0" y="1064029"/>
                  </a:lnTo>
                  <a:close/>
                </a:path>
              </a:pathLst>
            </a:custGeom>
            <a:blipFill>
              <a:blip r:embed="rId2"/>
              <a:stretch>
                <a:fillRect l="0" t="-7327" r="0" b="-7327"/>
              </a:stretch>
            </a:blipFill>
          </p:spPr>
        </p:sp>
      </p:grpSp>
      <p:sp>
        <p:nvSpPr>
          <p:cNvPr name="TextBox 4" id="4"/>
          <p:cNvSpPr txBox="true"/>
          <p:nvPr/>
        </p:nvSpPr>
        <p:spPr>
          <a:xfrm rot="0">
            <a:off x="10538205" y="4197873"/>
            <a:ext cx="3493919" cy="1700754"/>
          </a:xfrm>
          <a:prstGeom prst="rect">
            <a:avLst/>
          </a:prstGeom>
        </p:spPr>
        <p:txBody>
          <a:bodyPr anchor="t" rtlCol="false" tIns="0" lIns="0" bIns="0" rIns="0">
            <a:spAutoFit/>
          </a:bodyPr>
          <a:lstStyle/>
          <a:p>
            <a:pPr algn="r" rtl="true">
              <a:lnSpc>
                <a:spcPts val="13882"/>
              </a:lnSpc>
            </a:pPr>
            <a:r>
              <a:rPr lang="ar-EG" sz="9916">
                <a:solidFill>
                  <a:srgbClr val="000000"/>
                </a:solidFill>
                <a:latin typeface="Aqlaam"/>
                <a:ea typeface="Aqlaam"/>
                <a:cs typeface="Aqlaam"/>
                <a:sym typeface="Aqlaam"/>
                <a:rtl val="true"/>
              </a:rPr>
              <a:t>أبرز </a:t>
            </a:r>
          </a:p>
        </p:txBody>
      </p:sp>
      <p:sp>
        <p:nvSpPr>
          <p:cNvPr name="TextBox 5" id="5"/>
          <p:cNvSpPr txBox="true"/>
          <p:nvPr/>
        </p:nvSpPr>
        <p:spPr>
          <a:xfrm rot="0">
            <a:off x="1686080" y="4014491"/>
            <a:ext cx="5404560" cy="1685197"/>
          </a:xfrm>
          <a:prstGeom prst="rect">
            <a:avLst/>
          </a:prstGeom>
        </p:spPr>
        <p:txBody>
          <a:bodyPr anchor="t" rtlCol="false" tIns="0" lIns="0" bIns="0" rIns="0">
            <a:spAutoFit/>
          </a:bodyPr>
          <a:lstStyle/>
          <a:p>
            <a:pPr algn="ctr" rtl="true">
              <a:lnSpc>
                <a:spcPts val="13884"/>
              </a:lnSpc>
              <a:spcBef>
                <a:spcPct val="0"/>
              </a:spcBef>
            </a:pPr>
            <a:r>
              <a:rPr lang="ar-EG" sz="9917">
                <a:solidFill>
                  <a:srgbClr val="000000"/>
                </a:solidFill>
                <a:latin typeface="Aqlaam"/>
                <a:ea typeface="Aqlaam"/>
                <a:cs typeface="Aqlaam"/>
                <a:sym typeface="Aqlaam"/>
                <a:rtl val="true"/>
              </a:rPr>
              <a:t>أعمالي</a:t>
            </a:r>
          </a:p>
        </p:txBody>
      </p:sp>
      <p:sp>
        <p:nvSpPr>
          <p:cNvPr name="Freeform 6" id="6"/>
          <p:cNvSpPr/>
          <p:nvPr/>
        </p:nvSpPr>
        <p:spPr>
          <a:xfrm flipH="false" flipV="false" rot="0">
            <a:off x="15241432" y="3285789"/>
            <a:ext cx="6093136" cy="4154411"/>
          </a:xfrm>
          <a:custGeom>
            <a:avLst/>
            <a:gdLst/>
            <a:ahLst/>
            <a:cxnLst/>
            <a:rect r="r" b="b" t="t" l="l"/>
            <a:pathLst>
              <a:path h="4154411" w="6093136">
                <a:moveTo>
                  <a:pt x="0" y="0"/>
                </a:moveTo>
                <a:lnTo>
                  <a:pt x="6093136" y="0"/>
                </a:lnTo>
                <a:lnTo>
                  <a:pt x="6093136" y="4154411"/>
                </a:lnTo>
                <a:lnTo>
                  <a:pt x="0" y="41544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880894" y="6039127"/>
            <a:ext cx="3020745" cy="652573"/>
          </a:xfrm>
          <a:prstGeom prst="rect">
            <a:avLst/>
          </a:prstGeom>
        </p:spPr>
        <p:txBody>
          <a:bodyPr anchor="t" rtlCol="false" tIns="0" lIns="0" bIns="0" rIns="0">
            <a:spAutoFit/>
          </a:bodyPr>
          <a:lstStyle/>
          <a:p>
            <a:pPr algn="r" rtl="true">
              <a:lnSpc>
                <a:spcPts val="2703"/>
              </a:lnSpc>
            </a:pPr>
            <a:r>
              <a:rPr lang="ar-EG" sz="1931">
                <a:solidFill>
                  <a:srgbClr val="000000"/>
                </a:solidFill>
                <a:latin typeface="Bedayah"/>
                <a:ea typeface="Bedayah"/>
                <a:cs typeface="Bedayah"/>
                <a:sym typeface="Bedayah"/>
                <a:rtl val="true"/>
              </a:rPr>
              <a:t>حصلت على أحسن صورة في عام </a:t>
            </a:r>
            <a:r>
              <a:rPr lang="en-US" sz="1931">
                <a:solidFill>
                  <a:srgbClr val="000000"/>
                </a:solidFill>
                <a:latin typeface="Bedayah"/>
                <a:ea typeface="Bedayah"/>
                <a:cs typeface="Bedayah"/>
                <a:sym typeface="Bedayah"/>
              </a:rPr>
              <a:t>٢٠٢٣</a:t>
            </a:r>
            <a:r>
              <a:rPr lang="ar-EG" sz="1931">
                <a:solidFill>
                  <a:srgbClr val="000000"/>
                </a:solidFill>
                <a:latin typeface="Bedayah"/>
                <a:ea typeface="Bedayah"/>
                <a:cs typeface="Bedayah"/>
                <a:sym typeface="Bedayah"/>
                <a:rtl val="true"/>
              </a:rPr>
              <a:t> في تصوير الأفراح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097811" y="4454798"/>
            <a:ext cx="1377405" cy="1377405"/>
          </a:xfrm>
          <a:custGeom>
            <a:avLst/>
            <a:gdLst/>
            <a:ahLst/>
            <a:cxnLst/>
            <a:rect r="r" b="b" t="t" l="l"/>
            <a:pathLst>
              <a:path h="1377405" w="1377405">
                <a:moveTo>
                  <a:pt x="0" y="0"/>
                </a:moveTo>
                <a:lnTo>
                  <a:pt x="1377405" y="0"/>
                </a:lnTo>
                <a:lnTo>
                  <a:pt x="1377405" y="1377404"/>
                </a:lnTo>
                <a:lnTo>
                  <a:pt x="0" y="1377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168189" y="4454798"/>
            <a:ext cx="1951623" cy="1703234"/>
          </a:xfrm>
          <a:custGeom>
            <a:avLst/>
            <a:gdLst/>
            <a:ahLst/>
            <a:cxnLst/>
            <a:rect r="r" b="b" t="t" l="l"/>
            <a:pathLst>
              <a:path h="1703234" w="1951623">
                <a:moveTo>
                  <a:pt x="0" y="0"/>
                </a:moveTo>
                <a:lnTo>
                  <a:pt x="1951622" y="0"/>
                </a:lnTo>
                <a:lnTo>
                  <a:pt x="1951622" y="1703234"/>
                </a:lnTo>
                <a:lnTo>
                  <a:pt x="0" y="1703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815386" y="4378280"/>
            <a:ext cx="1458092" cy="1530440"/>
          </a:xfrm>
          <a:custGeom>
            <a:avLst/>
            <a:gdLst/>
            <a:ahLst/>
            <a:cxnLst/>
            <a:rect r="r" b="b" t="t" l="l"/>
            <a:pathLst>
              <a:path h="1530440" w="1458092">
                <a:moveTo>
                  <a:pt x="0" y="0"/>
                </a:moveTo>
                <a:lnTo>
                  <a:pt x="1458092" y="0"/>
                </a:lnTo>
                <a:lnTo>
                  <a:pt x="1458092" y="1530440"/>
                </a:lnTo>
                <a:lnTo>
                  <a:pt x="0" y="15304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462090" y="6973277"/>
            <a:ext cx="1363819" cy="1585836"/>
          </a:xfrm>
          <a:custGeom>
            <a:avLst/>
            <a:gdLst/>
            <a:ahLst/>
            <a:cxnLst/>
            <a:rect r="r" b="b" t="t" l="l"/>
            <a:pathLst>
              <a:path h="1585836" w="1363819">
                <a:moveTo>
                  <a:pt x="0" y="0"/>
                </a:moveTo>
                <a:lnTo>
                  <a:pt x="1363820" y="0"/>
                </a:lnTo>
                <a:lnTo>
                  <a:pt x="1363820" y="1585836"/>
                </a:lnTo>
                <a:lnTo>
                  <a:pt x="0" y="15858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89184" y="6906927"/>
            <a:ext cx="1684295" cy="1451556"/>
          </a:xfrm>
          <a:custGeom>
            <a:avLst/>
            <a:gdLst/>
            <a:ahLst/>
            <a:cxnLst/>
            <a:rect r="r" b="b" t="t" l="l"/>
            <a:pathLst>
              <a:path h="1451556" w="1684295">
                <a:moveTo>
                  <a:pt x="0" y="0"/>
                </a:moveTo>
                <a:lnTo>
                  <a:pt x="1684294" y="0"/>
                </a:lnTo>
                <a:lnTo>
                  <a:pt x="1684294" y="1451556"/>
                </a:lnTo>
                <a:lnTo>
                  <a:pt x="0" y="1451556"/>
                </a:lnTo>
                <a:lnTo>
                  <a:pt x="0" y="0"/>
                </a:lnTo>
                <a:close/>
              </a:path>
            </a:pathLst>
          </a:custGeom>
          <a:blipFill>
            <a:blip r:embed="rId10"/>
            <a:stretch>
              <a:fillRect l="0" t="0" r="0" b="0"/>
            </a:stretch>
          </a:blipFill>
        </p:spPr>
      </p:sp>
      <p:sp>
        <p:nvSpPr>
          <p:cNvPr name="Freeform 7" id="7"/>
          <p:cNvSpPr/>
          <p:nvPr/>
        </p:nvSpPr>
        <p:spPr>
          <a:xfrm flipH="false" flipV="false" rot="0">
            <a:off x="4069553" y="6973277"/>
            <a:ext cx="1405663" cy="1385206"/>
          </a:xfrm>
          <a:custGeom>
            <a:avLst/>
            <a:gdLst/>
            <a:ahLst/>
            <a:cxnLst/>
            <a:rect r="r" b="b" t="t" l="l"/>
            <a:pathLst>
              <a:path h="1385206" w="1405663">
                <a:moveTo>
                  <a:pt x="0" y="0"/>
                </a:moveTo>
                <a:lnTo>
                  <a:pt x="1405663" y="0"/>
                </a:lnTo>
                <a:lnTo>
                  <a:pt x="1405663" y="1385206"/>
                </a:lnTo>
                <a:lnTo>
                  <a:pt x="0" y="13852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6092303" y="1755097"/>
            <a:ext cx="6103395" cy="1880551"/>
          </a:xfrm>
          <a:prstGeom prst="rect">
            <a:avLst/>
          </a:prstGeom>
        </p:spPr>
        <p:txBody>
          <a:bodyPr anchor="t" rtlCol="false" tIns="0" lIns="0" bIns="0" rIns="0">
            <a:spAutoFit/>
          </a:bodyPr>
          <a:lstStyle/>
          <a:p>
            <a:pPr algn="ctr" rtl="true">
              <a:lnSpc>
                <a:spcPts val="7647"/>
              </a:lnSpc>
            </a:pPr>
            <a:r>
              <a:rPr lang="ar-EG" sz="5462">
                <a:solidFill>
                  <a:srgbClr val="D39117"/>
                </a:solidFill>
                <a:latin typeface="Aqlaam"/>
                <a:ea typeface="Aqlaam"/>
                <a:cs typeface="Aqlaam"/>
                <a:sym typeface="Aqlaam"/>
                <a:rtl val="true"/>
              </a:rPr>
              <a:t>سابقة أعمالي مع الشركات</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95697" y="3844492"/>
            <a:ext cx="1042345" cy="581818"/>
          </a:xfrm>
          <a:custGeom>
            <a:avLst/>
            <a:gdLst/>
            <a:ahLst/>
            <a:cxnLst/>
            <a:rect r="r" b="b" t="t" l="l"/>
            <a:pathLst>
              <a:path h="581818" w="1042345">
                <a:moveTo>
                  <a:pt x="0" y="0"/>
                </a:moveTo>
                <a:lnTo>
                  <a:pt x="1042345" y="0"/>
                </a:lnTo>
                <a:lnTo>
                  <a:pt x="1042345" y="581818"/>
                </a:lnTo>
                <a:lnTo>
                  <a:pt x="0" y="5818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4639951" y="6164624"/>
            <a:ext cx="1042345" cy="581818"/>
          </a:xfrm>
          <a:custGeom>
            <a:avLst/>
            <a:gdLst/>
            <a:ahLst/>
            <a:cxnLst/>
            <a:rect r="r" b="b" t="t" l="l"/>
            <a:pathLst>
              <a:path h="581818" w="1042345">
                <a:moveTo>
                  <a:pt x="1042345" y="581818"/>
                </a:moveTo>
                <a:lnTo>
                  <a:pt x="0" y="581818"/>
                </a:lnTo>
                <a:lnTo>
                  <a:pt x="0" y="0"/>
                </a:lnTo>
                <a:lnTo>
                  <a:pt x="1042345" y="0"/>
                </a:lnTo>
                <a:lnTo>
                  <a:pt x="1042345" y="58181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092303" y="1755097"/>
            <a:ext cx="6103395" cy="918526"/>
          </a:xfrm>
          <a:prstGeom prst="rect">
            <a:avLst/>
          </a:prstGeom>
        </p:spPr>
        <p:txBody>
          <a:bodyPr anchor="t" rtlCol="false" tIns="0" lIns="0" bIns="0" rIns="0">
            <a:spAutoFit/>
          </a:bodyPr>
          <a:lstStyle/>
          <a:p>
            <a:pPr algn="ctr" rtl="true">
              <a:lnSpc>
                <a:spcPts val="7647"/>
              </a:lnSpc>
            </a:pPr>
            <a:r>
              <a:rPr lang="ar-EG" sz="5462">
                <a:solidFill>
                  <a:srgbClr val="D39117"/>
                </a:solidFill>
                <a:latin typeface="Aqlaam"/>
                <a:ea typeface="Aqlaam"/>
                <a:cs typeface="Aqlaam"/>
                <a:sym typeface="Aqlaam"/>
                <a:rtl val="true"/>
              </a:rPr>
              <a:t>ما يقال عني</a:t>
            </a:r>
          </a:p>
        </p:txBody>
      </p:sp>
      <p:sp>
        <p:nvSpPr>
          <p:cNvPr name="TextBox 5" id="5"/>
          <p:cNvSpPr txBox="true"/>
          <p:nvPr/>
        </p:nvSpPr>
        <p:spPr>
          <a:xfrm rot="0">
            <a:off x="5955125" y="4078251"/>
            <a:ext cx="5967743" cy="2461893"/>
          </a:xfrm>
          <a:prstGeom prst="rect">
            <a:avLst/>
          </a:prstGeom>
        </p:spPr>
        <p:txBody>
          <a:bodyPr anchor="t" rtlCol="false" tIns="0" lIns="0" bIns="0" rIns="0">
            <a:spAutoFit/>
          </a:bodyPr>
          <a:lstStyle/>
          <a:p>
            <a:pPr algn="ctr" rtl="true">
              <a:lnSpc>
                <a:spcPts val="3955"/>
              </a:lnSpc>
            </a:pPr>
            <a:r>
              <a:rPr lang="ar-EG" sz="2825">
                <a:solidFill>
                  <a:srgbClr val="000000"/>
                </a:solidFill>
                <a:latin typeface="Bedayah"/>
                <a:ea typeface="Bedayah"/>
                <a:cs typeface="Bedayah"/>
                <a:sym typeface="Bedayah"/>
                <a:rtl val="true"/>
              </a:rPr>
              <a:t>يتمتع بموهبة استثنائية في التقاط اللحظات الطبيعية والجمالية بطريقة فنية مذهلة. قدرته على التواصل وسرعة تفهمه لما نرغب في تحقيقه جعلت جلسة التصوير مريحة وممتعة. </a:t>
            </a:r>
          </a:p>
        </p:txBody>
      </p:sp>
      <p:sp>
        <p:nvSpPr>
          <p:cNvPr name="TextBox 6" id="6"/>
          <p:cNvSpPr txBox="true"/>
          <p:nvPr/>
        </p:nvSpPr>
        <p:spPr>
          <a:xfrm rot="0">
            <a:off x="7785825" y="7259904"/>
            <a:ext cx="2306344" cy="480693"/>
          </a:xfrm>
          <a:prstGeom prst="rect">
            <a:avLst/>
          </a:prstGeom>
        </p:spPr>
        <p:txBody>
          <a:bodyPr anchor="t" rtlCol="false" tIns="0" lIns="0" bIns="0" rIns="0">
            <a:spAutoFit/>
          </a:bodyPr>
          <a:lstStyle/>
          <a:p>
            <a:pPr algn="ctr" rtl="true">
              <a:lnSpc>
                <a:spcPts val="3955"/>
              </a:lnSpc>
            </a:pPr>
            <a:r>
              <a:rPr lang="ar-EG" sz="2825">
                <a:solidFill>
                  <a:srgbClr val="000000"/>
                </a:solidFill>
                <a:latin typeface="Aqlaam"/>
                <a:ea typeface="Aqlaam"/>
                <a:cs typeface="Aqlaam"/>
                <a:sym typeface="Aqlaam"/>
                <a:rtl val="true"/>
              </a:rPr>
              <a:t>سميرة حديد</a:t>
            </a:r>
          </a:p>
        </p:txBody>
      </p:sp>
      <p:sp>
        <p:nvSpPr>
          <p:cNvPr name="TextBox 7" id="7"/>
          <p:cNvSpPr txBox="true"/>
          <p:nvPr/>
        </p:nvSpPr>
        <p:spPr>
          <a:xfrm rot="0">
            <a:off x="7785825" y="7683448"/>
            <a:ext cx="2306344" cy="480693"/>
          </a:xfrm>
          <a:prstGeom prst="rect">
            <a:avLst/>
          </a:prstGeom>
        </p:spPr>
        <p:txBody>
          <a:bodyPr anchor="t" rtlCol="false" tIns="0" lIns="0" bIns="0" rIns="0">
            <a:spAutoFit/>
          </a:bodyPr>
          <a:lstStyle/>
          <a:p>
            <a:pPr algn="ctr" rtl="true">
              <a:lnSpc>
                <a:spcPts val="3955"/>
              </a:lnSpc>
            </a:pPr>
            <a:r>
              <a:rPr lang="ar-EG" sz="2825">
                <a:solidFill>
                  <a:srgbClr val="000000"/>
                </a:solidFill>
                <a:latin typeface="Bedayah"/>
                <a:ea typeface="Bedayah"/>
                <a:cs typeface="Bedayah"/>
                <a:sym typeface="Bedayah"/>
                <a:rtl val="true"/>
              </a:rPr>
              <a:t>شركة الشركة</a:t>
            </a:r>
          </a:p>
        </p:txBody>
      </p:sp>
      <p:sp>
        <p:nvSpPr>
          <p:cNvPr name="Freeform 8" id="8"/>
          <p:cNvSpPr/>
          <p:nvPr/>
        </p:nvSpPr>
        <p:spPr>
          <a:xfrm flipH="false" flipV="false" rot="0">
            <a:off x="15241432" y="3285789"/>
            <a:ext cx="6093136" cy="4154411"/>
          </a:xfrm>
          <a:custGeom>
            <a:avLst/>
            <a:gdLst/>
            <a:ahLst/>
            <a:cxnLst/>
            <a:rect r="r" b="b" t="t" l="l"/>
            <a:pathLst>
              <a:path h="4154411" w="6093136">
                <a:moveTo>
                  <a:pt x="0" y="0"/>
                </a:moveTo>
                <a:lnTo>
                  <a:pt x="6093136" y="0"/>
                </a:lnTo>
                <a:lnTo>
                  <a:pt x="6093136" y="4154411"/>
                </a:lnTo>
                <a:lnTo>
                  <a:pt x="0" y="4154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046568" y="3374415"/>
            <a:ext cx="6093136" cy="4154411"/>
          </a:xfrm>
          <a:custGeom>
            <a:avLst/>
            <a:gdLst/>
            <a:ahLst/>
            <a:cxnLst/>
            <a:rect r="r" b="b" t="t" l="l"/>
            <a:pathLst>
              <a:path h="4154411" w="6093136">
                <a:moveTo>
                  <a:pt x="0" y="0"/>
                </a:moveTo>
                <a:lnTo>
                  <a:pt x="6093136" y="0"/>
                </a:lnTo>
                <a:lnTo>
                  <a:pt x="6093136" y="4154411"/>
                </a:lnTo>
                <a:lnTo>
                  <a:pt x="0" y="4154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39117"/>
        </a:solidFill>
      </p:bgPr>
    </p:bg>
    <p:spTree>
      <p:nvGrpSpPr>
        <p:cNvPr id="1" name=""/>
        <p:cNvGrpSpPr/>
        <p:nvPr/>
      </p:nvGrpSpPr>
      <p:grpSpPr>
        <a:xfrm>
          <a:off x="0" y="0"/>
          <a:ext cx="0" cy="0"/>
          <a:chOff x="0" y="0"/>
          <a:chExt cx="0" cy="0"/>
        </a:xfrm>
      </p:grpSpPr>
      <p:sp>
        <p:nvSpPr>
          <p:cNvPr name="TextBox 2" id="2"/>
          <p:cNvSpPr txBox="true"/>
          <p:nvPr/>
        </p:nvSpPr>
        <p:spPr>
          <a:xfrm rot="0">
            <a:off x="6292668" y="2871445"/>
            <a:ext cx="6103395" cy="918526"/>
          </a:xfrm>
          <a:prstGeom prst="rect">
            <a:avLst/>
          </a:prstGeom>
        </p:spPr>
        <p:txBody>
          <a:bodyPr anchor="t" rtlCol="false" tIns="0" lIns="0" bIns="0" rIns="0">
            <a:spAutoFit/>
          </a:bodyPr>
          <a:lstStyle/>
          <a:p>
            <a:pPr algn="ctr" rtl="true">
              <a:lnSpc>
                <a:spcPts val="7647"/>
              </a:lnSpc>
            </a:pPr>
            <a:r>
              <a:rPr lang="ar-EG" sz="5462">
                <a:solidFill>
                  <a:srgbClr val="FFFFFF"/>
                </a:solidFill>
                <a:latin typeface="Aqlaam"/>
                <a:ea typeface="Aqlaam"/>
                <a:cs typeface="Aqlaam"/>
                <a:sym typeface="Aqlaam"/>
                <a:rtl val="true"/>
              </a:rPr>
              <a:t>تواصل معي</a:t>
            </a:r>
          </a:p>
        </p:txBody>
      </p:sp>
      <p:sp>
        <p:nvSpPr>
          <p:cNvPr name="TextBox 3" id="3"/>
          <p:cNvSpPr txBox="true"/>
          <p:nvPr/>
        </p:nvSpPr>
        <p:spPr>
          <a:xfrm rot="0">
            <a:off x="13137150" y="7895652"/>
            <a:ext cx="3226152" cy="605873"/>
          </a:xfrm>
          <a:prstGeom prst="rect">
            <a:avLst/>
          </a:prstGeom>
        </p:spPr>
        <p:txBody>
          <a:bodyPr anchor="t" rtlCol="false" tIns="0" lIns="0" bIns="0" rIns="0">
            <a:spAutoFit/>
          </a:bodyPr>
          <a:lstStyle/>
          <a:p>
            <a:pPr algn="r">
              <a:lnSpc>
                <a:spcPts val="4930"/>
              </a:lnSpc>
            </a:pPr>
            <a:r>
              <a:rPr lang="en-US" sz="3521">
                <a:solidFill>
                  <a:srgbClr val="FFFFFF"/>
                </a:solidFill>
                <a:latin typeface="29LT Azer"/>
                <a:ea typeface="29LT Azer"/>
                <a:cs typeface="29LT Azer"/>
                <a:sym typeface="29LT Azer"/>
              </a:rPr>
              <a:t>123-456-7890</a:t>
            </a:r>
          </a:p>
        </p:txBody>
      </p:sp>
      <p:sp>
        <p:nvSpPr>
          <p:cNvPr name="TextBox 4" id="4"/>
          <p:cNvSpPr txBox="true"/>
          <p:nvPr/>
        </p:nvSpPr>
        <p:spPr>
          <a:xfrm rot="0">
            <a:off x="11388816" y="8425326"/>
            <a:ext cx="4974486" cy="605873"/>
          </a:xfrm>
          <a:prstGeom prst="rect">
            <a:avLst/>
          </a:prstGeom>
        </p:spPr>
        <p:txBody>
          <a:bodyPr anchor="t" rtlCol="false" tIns="0" lIns="0" bIns="0" rIns="0">
            <a:spAutoFit/>
          </a:bodyPr>
          <a:lstStyle/>
          <a:p>
            <a:pPr algn="r">
              <a:lnSpc>
                <a:spcPts val="4930"/>
              </a:lnSpc>
            </a:pPr>
            <a:r>
              <a:rPr lang="en-US" sz="3521">
                <a:solidFill>
                  <a:srgbClr val="FFFFFF"/>
                </a:solidFill>
                <a:latin typeface="29LT Azer"/>
                <a:ea typeface="29LT Azer"/>
                <a:cs typeface="29LT Azer"/>
                <a:sym typeface="29LT Azer"/>
              </a:rPr>
              <a:t>Hello@reallygreatsite.com</a:t>
            </a:r>
          </a:p>
        </p:txBody>
      </p:sp>
      <p:sp>
        <p:nvSpPr>
          <p:cNvPr name="TextBox 5" id="5"/>
          <p:cNvSpPr txBox="true"/>
          <p:nvPr/>
        </p:nvSpPr>
        <p:spPr>
          <a:xfrm rot="0">
            <a:off x="1839685" y="7895652"/>
            <a:ext cx="4743346" cy="605873"/>
          </a:xfrm>
          <a:prstGeom prst="rect">
            <a:avLst/>
          </a:prstGeom>
        </p:spPr>
        <p:txBody>
          <a:bodyPr anchor="t" rtlCol="false" tIns="0" lIns="0" bIns="0" rIns="0">
            <a:spAutoFit/>
          </a:bodyPr>
          <a:lstStyle/>
          <a:p>
            <a:pPr algn="l">
              <a:lnSpc>
                <a:spcPts val="4930"/>
              </a:lnSpc>
            </a:pPr>
            <a:r>
              <a:rPr lang="en-US" sz="3521">
                <a:solidFill>
                  <a:srgbClr val="FFFFFF"/>
                </a:solidFill>
                <a:latin typeface="29LT Azer"/>
                <a:ea typeface="29LT Azer"/>
                <a:cs typeface="29LT Azer"/>
                <a:sym typeface="29LT Azer"/>
              </a:rPr>
              <a:t>www.moke3gameel.com</a:t>
            </a:r>
          </a:p>
        </p:txBody>
      </p:sp>
      <p:sp>
        <p:nvSpPr>
          <p:cNvPr name="TextBox 6" id="6"/>
          <p:cNvSpPr txBox="true"/>
          <p:nvPr/>
        </p:nvSpPr>
        <p:spPr>
          <a:xfrm rot="0">
            <a:off x="1829218" y="8425326"/>
            <a:ext cx="8396060" cy="605873"/>
          </a:xfrm>
          <a:prstGeom prst="rect">
            <a:avLst/>
          </a:prstGeom>
        </p:spPr>
        <p:txBody>
          <a:bodyPr anchor="t" rtlCol="false" tIns="0" lIns="0" bIns="0" rIns="0">
            <a:spAutoFit/>
          </a:bodyPr>
          <a:lstStyle/>
          <a:p>
            <a:pPr algn="l">
              <a:lnSpc>
                <a:spcPts val="4930"/>
              </a:lnSpc>
            </a:pPr>
            <a:r>
              <a:rPr lang="ar-EG" sz="3521">
                <a:solidFill>
                  <a:srgbClr val="FFFFFF"/>
                </a:solidFill>
                <a:latin typeface="29LT Azer"/>
                <a:ea typeface="29LT Azer"/>
                <a:cs typeface="29LT Azer"/>
                <a:sym typeface="29LT Azer"/>
                <a:rtl val="true"/>
              </a:rPr>
              <a:t>شارع</a:t>
            </a:r>
            <a:r>
              <a:rPr lang="ar-EG" sz="3521">
                <a:solidFill>
                  <a:srgbClr val="FFFFFF"/>
                </a:solidFill>
                <a:latin typeface="29LT Azer"/>
                <a:ea typeface="29LT Azer"/>
                <a:cs typeface="29LT Azer"/>
                <a:sym typeface="29LT Azer"/>
                <a:rtl val="true"/>
              </a:rPr>
              <a:t> </a:t>
            </a:r>
            <a:r>
              <a:rPr lang="en-US" sz="3521">
                <a:solidFill>
                  <a:srgbClr val="FFFFFF"/>
                </a:solidFill>
                <a:latin typeface="29LT Azer"/>
                <a:ea typeface="29LT Azer"/>
                <a:cs typeface="29LT Azer"/>
                <a:sym typeface="29LT Azer"/>
              </a:rPr>
              <a:t>8</a:t>
            </a:r>
            <a:r>
              <a:rPr lang="ar-EG" sz="3521">
                <a:solidFill>
                  <a:srgbClr val="FFFFFF"/>
                </a:solidFill>
                <a:latin typeface="29LT Azer"/>
                <a:ea typeface="29LT Azer"/>
                <a:cs typeface="29LT Azer"/>
                <a:sym typeface="29LT Azer"/>
                <a:rtl val="true"/>
              </a:rPr>
              <a:t>، حي الزهراء، مدينة النور، </a:t>
            </a:r>
            <a:r>
              <a:rPr lang="en-US" sz="3521">
                <a:solidFill>
                  <a:srgbClr val="FFFFFF"/>
                </a:solidFill>
                <a:latin typeface="29LT Azer"/>
                <a:ea typeface="29LT Azer"/>
                <a:cs typeface="29LT Azer"/>
                <a:sym typeface="29LT Azer"/>
              </a:rPr>
              <a:t>12345</a:t>
            </a:r>
            <a:r>
              <a:rPr lang="ar-EG" sz="3521">
                <a:solidFill>
                  <a:srgbClr val="FFFFFF"/>
                </a:solidFill>
                <a:latin typeface="29LT Azer"/>
                <a:ea typeface="29LT Azer"/>
                <a:cs typeface="29LT Azer"/>
                <a:sym typeface="29LT Azer"/>
                <a:rtl val="true"/>
              </a:rPr>
              <a:t>، الوطن العربي</a:t>
            </a:r>
          </a:p>
        </p:txBody>
      </p:sp>
      <p:sp>
        <p:nvSpPr>
          <p:cNvPr name="TextBox 7" id="7"/>
          <p:cNvSpPr txBox="true"/>
          <p:nvPr/>
        </p:nvSpPr>
        <p:spPr>
          <a:xfrm rot="0">
            <a:off x="6477593" y="4991100"/>
            <a:ext cx="5733543" cy="1334870"/>
          </a:xfrm>
          <a:prstGeom prst="rect">
            <a:avLst/>
          </a:prstGeom>
        </p:spPr>
        <p:txBody>
          <a:bodyPr anchor="t" rtlCol="false" tIns="0" lIns="0" bIns="0" rIns="0">
            <a:spAutoFit/>
          </a:bodyPr>
          <a:lstStyle/>
          <a:p>
            <a:pPr algn="ctr" rtl="true">
              <a:lnSpc>
                <a:spcPts val="10900"/>
              </a:lnSpc>
            </a:pPr>
            <a:r>
              <a:rPr lang="ar-EG" sz="7786">
                <a:solidFill>
                  <a:srgbClr val="FFFFFF"/>
                </a:solidFill>
                <a:latin typeface="Aqlaam"/>
                <a:ea typeface="Aqlaam"/>
                <a:cs typeface="Aqlaam"/>
                <a:sym typeface="Aqlaam"/>
                <a:rtl val="true"/>
              </a:rPr>
              <a:t>مراد ناصر</a:t>
            </a:r>
          </a:p>
        </p:txBody>
      </p:sp>
      <p:sp>
        <p:nvSpPr>
          <p:cNvPr name="TextBox 8" id="8"/>
          <p:cNvSpPr txBox="true"/>
          <p:nvPr/>
        </p:nvSpPr>
        <p:spPr>
          <a:xfrm rot="0">
            <a:off x="5976457" y="6236676"/>
            <a:ext cx="6407997" cy="508976"/>
          </a:xfrm>
          <a:prstGeom prst="rect">
            <a:avLst/>
          </a:prstGeom>
        </p:spPr>
        <p:txBody>
          <a:bodyPr anchor="t" rtlCol="false" tIns="0" lIns="0" bIns="0" rIns="0">
            <a:spAutoFit/>
          </a:bodyPr>
          <a:lstStyle/>
          <a:p>
            <a:pPr algn="ctr" rtl="true">
              <a:lnSpc>
                <a:spcPts val="4246"/>
              </a:lnSpc>
            </a:pPr>
            <a:r>
              <a:rPr lang="ar-EG" sz="3033">
                <a:solidFill>
                  <a:srgbClr val="FFFFFF"/>
                </a:solidFill>
                <a:latin typeface="Bedayah"/>
                <a:ea typeface="Bedayah"/>
                <a:cs typeface="Bedayah"/>
                <a:sym typeface="Bedayah"/>
                <a:rtl val="true"/>
              </a:rPr>
              <a:t>مؤسس الستوديو و مصور فوتغرافي</a:t>
            </a:r>
          </a:p>
        </p:txBody>
      </p:sp>
      <p:sp>
        <p:nvSpPr>
          <p:cNvPr name="Freeform 9" id="9"/>
          <p:cNvSpPr/>
          <p:nvPr/>
        </p:nvSpPr>
        <p:spPr>
          <a:xfrm flipH="false" flipV="false" rot="5400000">
            <a:off x="6640760" y="-1706754"/>
            <a:ext cx="5006480" cy="3413509"/>
          </a:xfrm>
          <a:custGeom>
            <a:avLst/>
            <a:gdLst/>
            <a:ahLst/>
            <a:cxnLst/>
            <a:rect r="r" b="b" t="t" l="l"/>
            <a:pathLst>
              <a:path h="3413509" w="5006480">
                <a:moveTo>
                  <a:pt x="0" y="0"/>
                </a:moveTo>
                <a:lnTo>
                  <a:pt x="5006480" y="0"/>
                </a:lnTo>
                <a:lnTo>
                  <a:pt x="5006480" y="3413508"/>
                </a:lnTo>
                <a:lnTo>
                  <a:pt x="0" y="3413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DAHZUH6dvf8</dc:identifier>
  <dcterms:modified xsi:type="dcterms:W3CDTF">2011-08-01T06:04:30Z</dcterms:modified>
  <cp:revision>1</cp:revision>
  <dc:title>عرض تقديمي Presentation أصفر و أسود عن ملف أعمال مصور</dc:title>
</cp:coreProperties>
</file>